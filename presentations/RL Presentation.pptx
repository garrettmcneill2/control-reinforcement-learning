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0"/>
  </p:notesMasterIdLst>
  <p:sldIdLst>
    <p:sldId id="256" r:id="rId2"/>
    <p:sldId id="260"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2F8565-51B8-0C45-AC26-10F429E99694}" v="1" dt="2026-06-10T16:04:39.1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86"/>
    <p:restoredTop sz="94676"/>
  </p:normalViewPr>
  <p:slideViewPr>
    <p:cSldViewPr snapToGrid="0">
      <p:cViewPr varScale="1">
        <p:scale>
          <a:sx n="106" d="100"/>
          <a:sy n="106" d="100"/>
        </p:scale>
        <p:origin x="504"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226F8F-3039-9F42-A6AF-C1CF67D6DE7C}" type="datetimeFigureOut">
              <a:rPr lang="en-US" smtClean="0"/>
              <a:t>6/10/26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E98EB4-3ACC-B34F-843D-C2345238D083}" type="slidenum">
              <a:rPr lang="en-US" smtClean="0"/>
              <a:t>‹#›</a:t>
            </a:fld>
            <a:endParaRPr lang="en-US"/>
          </a:p>
        </p:txBody>
      </p:sp>
    </p:spTree>
    <p:extLst>
      <p:ext uri="{BB962C8B-B14F-4D97-AF65-F5344CB8AC3E}">
        <p14:creationId xmlns:p14="http://schemas.microsoft.com/office/powerpoint/2010/main" val="42545716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Markov assumption is that your next state only depends on your current state. This works, since we can assure now that all information about our past states is contained in our current state. Here is a nice spot to go over the different types of </a:t>
            </a:r>
            <a:r>
              <a:rPr lang="en-US" dirty="0" err="1"/>
              <a:t>environements</a:t>
            </a:r>
            <a:r>
              <a:rPr lang="en-US" dirty="0"/>
              <a:t> </a:t>
            </a:r>
          </a:p>
        </p:txBody>
      </p:sp>
      <p:sp>
        <p:nvSpPr>
          <p:cNvPr id="4" name="Slide Number Placeholder 3"/>
          <p:cNvSpPr>
            <a:spLocks noGrp="1"/>
          </p:cNvSpPr>
          <p:nvPr>
            <p:ph type="sldNum" sz="quarter" idx="5"/>
          </p:nvPr>
        </p:nvSpPr>
        <p:spPr/>
        <p:txBody>
          <a:bodyPr/>
          <a:lstStyle/>
          <a:p>
            <a:fld id="{82E98EB4-3ACC-B34F-843D-C2345238D083}" type="slidenum">
              <a:rPr lang="en-US" smtClean="0"/>
              <a:t>5</a:t>
            </a:fld>
            <a:endParaRPr lang="en-US"/>
          </a:p>
        </p:txBody>
      </p:sp>
    </p:spTree>
    <p:extLst>
      <p:ext uri="{BB962C8B-B14F-4D97-AF65-F5344CB8AC3E}">
        <p14:creationId xmlns:p14="http://schemas.microsoft.com/office/powerpoint/2010/main" val="29010586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metaphor for segway into policy iteration. How does having a action that is clearly better than others affect how long value iteration runs for? It doesn’t!! Value iteration is still going to run until it finds the actual value of the action / state pair, even if its terrible </a:t>
            </a:r>
          </a:p>
          <a:p>
            <a:endParaRPr lang="en-US" dirty="0"/>
          </a:p>
        </p:txBody>
      </p:sp>
      <p:sp>
        <p:nvSpPr>
          <p:cNvPr id="4" name="Slide Number Placeholder 3"/>
          <p:cNvSpPr>
            <a:spLocks noGrp="1"/>
          </p:cNvSpPr>
          <p:nvPr>
            <p:ph type="sldNum" sz="quarter" idx="5"/>
          </p:nvPr>
        </p:nvSpPr>
        <p:spPr/>
        <p:txBody>
          <a:bodyPr/>
          <a:lstStyle/>
          <a:p>
            <a:fld id="{82E98EB4-3ACC-B34F-843D-C2345238D083}" type="slidenum">
              <a:rPr lang="en-US" smtClean="0"/>
              <a:t>8</a:t>
            </a:fld>
            <a:endParaRPr lang="en-US"/>
          </a:p>
        </p:txBody>
      </p:sp>
    </p:spTree>
    <p:extLst>
      <p:ext uri="{BB962C8B-B14F-4D97-AF65-F5344CB8AC3E}">
        <p14:creationId xmlns:p14="http://schemas.microsoft.com/office/powerpoint/2010/main" val="38992300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Good metaphor for segway into policy iteration. How does having a action that is clearly better than others affect how long value iteration runs for? It doesn’t!!  Value iteration is still going to run until it finds the actual value of the action / state pair, even if its terrible </a:t>
            </a:r>
          </a:p>
          <a:p>
            <a:endParaRPr lang="en-US" dirty="0"/>
          </a:p>
        </p:txBody>
      </p:sp>
      <p:sp>
        <p:nvSpPr>
          <p:cNvPr id="4" name="Slide Number Placeholder 3"/>
          <p:cNvSpPr>
            <a:spLocks noGrp="1"/>
          </p:cNvSpPr>
          <p:nvPr>
            <p:ph type="sldNum" sz="quarter" idx="5"/>
          </p:nvPr>
        </p:nvSpPr>
        <p:spPr/>
        <p:txBody>
          <a:bodyPr/>
          <a:lstStyle/>
          <a:p>
            <a:fld id="{82E98EB4-3ACC-B34F-843D-C2345238D083}" type="slidenum">
              <a:rPr lang="en-US" smtClean="0"/>
              <a:t>9</a:t>
            </a:fld>
            <a:endParaRPr lang="en-US"/>
          </a:p>
        </p:txBody>
      </p:sp>
    </p:spTree>
    <p:extLst>
      <p:ext uri="{BB962C8B-B14F-4D97-AF65-F5344CB8AC3E}">
        <p14:creationId xmlns:p14="http://schemas.microsoft.com/office/powerpoint/2010/main" val="17720752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Go back to arch 2 and explain how we can make sure to avoid the loss from nodes that aren’t the action we take. Basically set the loss to those nodes to be equal to exactly their prediction to avoid their loss backpropagating through the network when we didn’t learn anything from them that step </a:t>
            </a:r>
          </a:p>
        </p:txBody>
      </p:sp>
      <p:sp>
        <p:nvSpPr>
          <p:cNvPr id="4" name="Slide Number Placeholder 3"/>
          <p:cNvSpPr>
            <a:spLocks noGrp="1"/>
          </p:cNvSpPr>
          <p:nvPr>
            <p:ph type="sldNum" sz="quarter" idx="5"/>
          </p:nvPr>
        </p:nvSpPr>
        <p:spPr/>
        <p:txBody>
          <a:bodyPr/>
          <a:lstStyle/>
          <a:p>
            <a:fld id="{82E98EB4-3ACC-B34F-843D-C2345238D083}" type="slidenum">
              <a:rPr lang="en-US" smtClean="0"/>
              <a:t>24</a:t>
            </a:fld>
            <a:endParaRPr lang="en-US"/>
          </a:p>
        </p:txBody>
      </p:sp>
    </p:spTree>
    <p:extLst>
      <p:ext uri="{BB962C8B-B14F-4D97-AF65-F5344CB8AC3E}">
        <p14:creationId xmlns:p14="http://schemas.microsoft.com/office/powerpoint/2010/main" val="8053430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Trying to set this up so we don’t have to take derivative of reward itself, since we can’t guarantee it will differentiable for our loss . </a:t>
            </a:r>
          </a:p>
        </p:txBody>
      </p:sp>
      <p:sp>
        <p:nvSpPr>
          <p:cNvPr id="4" name="Slide Number Placeholder 3"/>
          <p:cNvSpPr>
            <a:spLocks noGrp="1"/>
          </p:cNvSpPr>
          <p:nvPr>
            <p:ph type="sldNum" sz="quarter" idx="5"/>
          </p:nvPr>
        </p:nvSpPr>
        <p:spPr/>
        <p:txBody>
          <a:bodyPr/>
          <a:lstStyle/>
          <a:p>
            <a:fld id="{82E98EB4-3ACC-B34F-843D-C2345238D083}" type="slidenum">
              <a:rPr lang="en-US" smtClean="0"/>
              <a:t>30</a:t>
            </a:fld>
            <a:endParaRPr lang="en-US"/>
          </a:p>
        </p:txBody>
      </p:sp>
    </p:spTree>
    <p:extLst>
      <p:ext uri="{BB962C8B-B14F-4D97-AF65-F5344CB8AC3E}">
        <p14:creationId xmlns:p14="http://schemas.microsoft.com/office/powerpoint/2010/main" val="5944071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A_t</a:t>
            </a:r>
            <a:r>
              <a:rPr lang="en-US" dirty="0"/>
              <a:t> is an advantage estimator </a:t>
            </a:r>
          </a:p>
        </p:txBody>
      </p:sp>
      <p:sp>
        <p:nvSpPr>
          <p:cNvPr id="4" name="Slide Number Placeholder 3"/>
          <p:cNvSpPr>
            <a:spLocks noGrp="1"/>
          </p:cNvSpPr>
          <p:nvPr>
            <p:ph type="sldNum" sz="quarter" idx="5"/>
          </p:nvPr>
        </p:nvSpPr>
        <p:spPr/>
        <p:txBody>
          <a:bodyPr/>
          <a:lstStyle/>
          <a:p>
            <a:fld id="{82E98EB4-3ACC-B34F-843D-C2345238D083}" type="slidenum">
              <a:rPr lang="en-US" smtClean="0"/>
              <a:t>35</a:t>
            </a:fld>
            <a:endParaRPr lang="en-US"/>
          </a:p>
        </p:txBody>
      </p:sp>
    </p:spTree>
    <p:extLst>
      <p:ext uri="{BB962C8B-B14F-4D97-AF65-F5344CB8AC3E}">
        <p14:creationId xmlns:p14="http://schemas.microsoft.com/office/powerpoint/2010/main" val="28225249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3D832740-7295-2840-AA5F-8B143FF53D43}" type="datetimeFigureOut">
              <a:rPr lang="en-US" smtClean="0"/>
              <a:t>6/10/26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94B0AF-5BC3-CA48-B201-EE0D8CA4E817}" type="slidenum">
              <a:rPr lang="en-US" smtClean="0"/>
              <a:t>‹#›</a:t>
            </a:fld>
            <a:endParaRPr lang="en-US"/>
          </a:p>
        </p:txBody>
      </p:sp>
    </p:spTree>
    <p:extLst>
      <p:ext uri="{BB962C8B-B14F-4D97-AF65-F5344CB8AC3E}">
        <p14:creationId xmlns:p14="http://schemas.microsoft.com/office/powerpoint/2010/main" val="1661460497"/>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D832740-7295-2840-AA5F-8B143FF53D43}" type="datetimeFigureOut">
              <a:rPr lang="en-US" smtClean="0"/>
              <a:t>6/10/26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94B0AF-5BC3-CA48-B201-EE0D8CA4E817}" type="slidenum">
              <a:rPr lang="en-US" smtClean="0"/>
              <a:t>‹#›</a:t>
            </a:fld>
            <a:endParaRPr lang="en-US"/>
          </a:p>
        </p:txBody>
      </p:sp>
    </p:spTree>
    <p:extLst>
      <p:ext uri="{BB962C8B-B14F-4D97-AF65-F5344CB8AC3E}">
        <p14:creationId xmlns:p14="http://schemas.microsoft.com/office/powerpoint/2010/main" val="1683087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3D832740-7295-2840-AA5F-8B143FF53D43}" type="datetimeFigureOut">
              <a:rPr lang="en-US" smtClean="0"/>
              <a:t>6/10/26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94B0AF-5BC3-CA48-B201-EE0D8CA4E817}" type="slidenum">
              <a:rPr lang="en-US" smtClean="0"/>
              <a:t>‹#›</a:t>
            </a:fld>
            <a:endParaRPr lang="en-US"/>
          </a:p>
        </p:txBody>
      </p:sp>
    </p:spTree>
    <p:extLst>
      <p:ext uri="{BB962C8B-B14F-4D97-AF65-F5344CB8AC3E}">
        <p14:creationId xmlns:p14="http://schemas.microsoft.com/office/powerpoint/2010/main" val="28683954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3D832740-7295-2840-AA5F-8B143FF53D43}" type="datetimeFigureOut">
              <a:rPr lang="en-US" smtClean="0"/>
              <a:t>6/10/26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5294B0AF-5BC3-CA48-B201-EE0D8CA4E817}" type="slidenum">
              <a:rPr lang="en-US" smtClean="0"/>
              <a:t>‹#›</a:t>
            </a:fld>
            <a:endParaRPr lang="en-US"/>
          </a:p>
        </p:txBody>
      </p:sp>
    </p:spTree>
    <p:extLst>
      <p:ext uri="{BB962C8B-B14F-4D97-AF65-F5344CB8AC3E}">
        <p14:creationId xmlns:p14="http://schemas.microsoft.com/office/powerpoint/2010/main" val="1474341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3D832740-7295-2840-AA5F-8B143FF53D43}" type="datetimeFigureOut">
              <a:rPr lang="en-US" smtClean="0"/>
              <a:t>6/10/26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294B0AF-5BC3-CA48-B201-EE0D8CA4E817}"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024793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D832740-7295-2840-AA5F-8B143FF53D43}" type="datetimeFigureOut">
              <a:rPr lang="en-US" smtClean="0"/>
              <a:t>6/10/26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294B0AF-5BC3-CA48-B201-EE0D8CA4E817}" type="slidenum">
              <a:rPr lang="en-US" smtClean="0"/>
              <a:t>‹#›</a:t>
            </a:fld>
            <a:endParaRPr lang="en-US"/>
          </a:p>
        </p:txBody>
      </p:sp>
    </p:spTree>
    <p:extLst>
      <p:ext uri="{BB962C8B-B14F-4D97-AF65-F5344CB8AC3E}">
        <p14:creationId xmlns:p14="http://schemas.microsoft.com/office/powerpoint/2010/main" val="14594171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832740-7295-2840-AA5F-8B143FF53D43}" type="datetimeFigureOut">
              <a:rPr lang="en-US" smtClean="0"/>
              <a:t>6/10/26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294B0AF-5BC3-CA48-B201-EE0D8CA4E817}" type="slidenum">
              <a:rPr lang="en-US" smtClean="0"/>
              <a:t>‹#›</a:t>
            </a:fld>
            <a:endParaRPr lang="en-US"/>
          </a:p>
        </p:txBody>
      </p:sp>
    </p:spTree>
    <p:extLst>
      <p:ext uri="{BB962C8B-B14F-4D97-AF65-F5344CB8AC3E}">
        <p14:creationId xmlns:p14="http://schemas.microsoft.com/office/powerpoint/2010/main" val="12246221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3D832740-7295-2840-AA5F-8B143FF53D43}" type="datetimeFigureOut">
              <a:rPr lang="en-US" smtClean="0"/>
              <a:t>6/10/26</a:t>
            </a:fld>
            <a:endParaRPr lang="en-US"/>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5294B0AF-5BC3-CA48-B201-EE0D8CA4E817}" type="slidenum">
              <a:rPr lang="en-US" smtClean="0"/>
              <a:t>‹#›</a:t>
            </a:fld>
            <a:endParaRPr lang="en-US"/>
          </a:p>
        </p:txBody>
      </p:sp>
    </p:spTree>
    <p:extLst>
      <p:ext uri="{BB962C8B-B14F-4D97-AF65-F5344CB8AC3E}">
        <p14:creationId xmlns:p14="http://schemas.microsoft.com/office/powerpoint/2010/main" val="38933063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3D832740-7295-2840-AA5F-8B143FF53D43}" type="datetimeFigureOut">
              <a:rPr lang="en-US" smtClean="0"/>
              <a:t>6/10/26</a:t>
            </a:fld>
            <a:endParaRPr lang="en-US"/>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5294B0AF-5BC3-CA48-B201-EE0D8CA4E817}" type="slidenum">
              <a:rPr lang="en-US" smtClean="0"/>
              <a:t>‹#›</a:t>
            </a:fld>
            <a:endParaRPr lang="en-US"/>
          </a:p>
        </p:txBody>
      </p:sp>
    </p:spTree>
    <p:extLst>
      <p:ext uri="{BB962C8B-B14F-4D97-AF65-F5344CB8AC3E}">
        <p14:creationId xmlns:p14="http://schemas.microsoft.com/office/powerpoint/2010/main" val="17805672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832740-7295-2840-AA5F-8B143FF53D43}"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94B0AF-5BC3-CA48-B201-EE0D8CA4E817}" type="slidenum">
              <a:rPr lang="en-US" smtClean="0"/>
              <a:t>‹#›</a:t>
            </a:fld>
            <a:endParaRPr lang="en-US"/>
          </a:p>
        </p:txBody>
      </p:sp>
    </p:spTree>
    <p:extLst>
      <p:ext uri="{BB962C8B-B14F-4D97-AF65-F5344CB8AC3E}">
        <p14:creationId xmlns:p14="http://schemas.microsoft.com/office/powerpoint/2010/main" val="306080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D832740-7295-2840-AA5F-8B143FF53D43}"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294B0AF-5BC3-CA48-B201-EE0D8CA4E817}" type="slidenum">
              <a:rPr lang="en-US" smtClean="0"/>
              <a:t>‹#›</a:t>
            </a:fld>
            <a:endParaRPr lang="en-US"/>
          </a:p>
        </p:txBody>
      </p:sp>
    </p:spTree>
    <p:extLst>
      <p:ext uri="{BB962C8B-B14F-4D97-AF65-F5344CB8AC3E}">
        <p14:creationId xmlns:p14="http://schemas.microsoft.com/office/powerpoint/2010/main" val="28933493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3D832740-7295-2840-AA5F-8B143FF53D43}" type="datetimeFigureOut">
              <a:rPr lang="en-US" smtClean="0"/>
              <a:t>6/10/26</a:t>
            </a:fld>
            <a:endParaRPr lang="en-US"/>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5294B0AF-5BC3-CA48-B201-EE0D8CA4E817}" type="slidenum">
              <a:rPr lang="en-US" smtClean="0"/>
              <a:t>‹#›</a:t>
            </a:fld>
            <a:endParaRPr lang="en-US"/>
          </a:p>
        </p:txBody>
      </p:sp>
    </p:spTree>
    <p:extLst>
      <p:ext uri="{BB962C8B-B14F-4D97-AF65-F5344CB8AC3E}">
        <p14:creationId xmlns:p14="http://schemas.microsoft.com/office/powerpoint/2010/main" val="29131783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1415C-59D5-4B35-1CCD-E1FF0433935B}"/>
              </a:ext>
            </a:extLst>
          </p:cNvPr>
          <p:cNvSpPr>
            <a:spLocks noGrp="1"/>
          </p:cNvSpPr>
          <p:nvPr>
            <p:ph type="ctrTitle"/>
          </p:nvPr>
        </p:nvSpPr>
        <p:spPr/>
        <p:txBody>
          <a:bodyPr/>
          <a:lstStyle/>
          <a:p>
            <a:r>
              <a:rPr lang="en-US" dirty="0"/>
              <a:t>Reinforcement Learning</a:t>
            </a:r>
          </a:p>
        </p:txBody>
      </p:sp>
      <p:sp>
        <p:nvSpPr>
          <p:cNvPr id="3" name="Subtitle 2">
            <a:extLst>
              <a:ext uri="{FF2B5EF4-FFF2-40B4-BE49-F238E27FC236}">
                <a16:creationId xmlns:a16="http://schemas.microsoft.com/office/drawing/2014/main" id="{DAB055BA-8EA7-DB19-8DBE-221794A66DBD}"/>
              </a:ext>
            </a:extLst>
          </p:cNvPr>
          <p:cNvSpPr>
            <a:spLocks noGrp="1"/>
          </p:cNvSpPr>
          <p:nvPr>
            <p:ph type="subTitle" idx="1"/>
          </p:nvPr>
        </p:nvSpPr>
        <p:spPr/>
        <p:txBody>
          <a:bodyPr/>
          <a:lstStyle/>
          <a:p>
            <a:r>
              <a:rPr lang="en-US" dirty="0"/>
              <a:t>Garrett McNeill</a:t>
            </a:r>
          </a:p>
        </p:txBody>
      </p:sp>
    </p:spTree>
    <p:extLst>
      <p:ext uri="{BB962C8B-B14F-4D97-AF65-F5344CB8AC3E}">
        <p14:creationId xmlns:p14="http://schemas.microsoft.com/office/powerpoint/2010/main" val="769261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6FB40-A451-32E5-7E36-479321CA8BE8}"/>
              </a:ext>
            </a:extLst>
          </p:cNvPr>
          <p:cNvSpPr>
            <a:spLocks noGrp="1"/>
          </p:cNvSpPr>
          <p:nvPr>
            <p:ph type="title"/>
          </p:nvPr>
        </p:nvSpPr>
        <p:spPr/>
        <p:txBody>
          <a:bodyPr/>
          <a:lstStyle/>
          <a:p>
            <a:r>
              <a:rPr lang="en-US" dirty="0"/>
              <a:t>What is Reinforcement Learning</a:t>
            </a:r>
          </a:p>
        </p:txBody>
      </p:sp>
      <p:sp>
        <p:nvSpPr>
          <p:cNvPr id="3" name="Content Placeholder 2">
            <a:extLst>
              <a:ext uri="{FF2B5EF4-FFF2-40B4-BE49-F238E27FC236}">
                <a16:creationId xmlns:a16="http://schemas.microsoft.com/office/drawing/2014/main" id="{CCECCAFF-10A0-983A-CFB7-B257CAA3C4CD}"/>
              </a:ext>
            </a:extLst>
          </p:cNvPr>
          <p:cNvSpPr>
            <a:spLocks noGrp="1"/>
          </p:cNvSpPr>
          <p:nvPr>
            <p:ph idx="1"/>
          </p:nvPr>
        </p:nvSpPr>
        <p:spPr/>
        <p:txBody>
          <a:bodyPr/>
          <a:lstStyle/>
          <a:p>
            <a:r>
              <a:rPr lang="en-US" dirty="0"/>
              <a:t>In traditional machine learning, we learn from datasets. </a:t>
            </a:r>
          </a:p>
          <a:p>
            <a:r>
              <a:rPr lang="en-US" dirty="0"/>
              <a:t>In reinforcement learning, we learn from experiences. </a:t>
            </a:r>
          </a:p>
          <a:p>
            <a:r>
              <a:rPr lang="en-US" dirty="0"/>
              <a:t>Used in wide variety of fields</a:t>
            </a:r>
          </a:p>
          <a:p>
            <a:pPr lvl="1"/>
            <a:r>
              <a:rPr lang="en-US" dirty="0"/>
              <a:t>Medicine</a:t>
            </a:r>
          </a:p>
          <a:p>
            <a:pPr lvl="1"/>
            <a:r>
              <a:rPr lang="en-US" dirty="0"/>
              <a:t>Robotics</a:t>
            </a:r>
          </a:p>
          <a:p>
            <a:pPr lvl="1"/>
            <a:r>
              <a:rPr lang="en-US" dirty="0"/>
              <a:t>LLMs</a:t>
            </a:r>
          </a:p>
          <a:p>
            <a:endParaRPr lang="en-US" dirty="0"/>
          </a:p>
        </p:txBody>
      </p:sp>
    </p:spTree>
    <p:extLst>
      <p:ext uri="{BB962C8B-B14F-4D97-AF65-F5344CB8AC3E}">
        <p14:creationId xmlns:p14="http://schemas.microsoft.com/office/powerpoint/2010/main" val="8205762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47C4A-B8EE-FFC2-ACF2-59F2E1F9EBF1}"/>
              </a:ext>
            </a:extLst>
          </p:cNvPr>
          <p:cNvSpPr>
            <a:spLocks noGrp="1"/>
          </p:cNvSpPr>
          <p:nvPr>
            <p:ph type="title"/>
          </p:nvPr>
        </p:nvSpPr>
        <p:spPr/>
        <p:txBody>
          <a:bodyPr/>
          <a:lstStyle/>
          <a:p>
            <a:r>
              <a:rPr lang="en-US" dirty="0"/>
              <a:t>What is Reinforcement Learning? </a:t>
            </a:r>
          </a:p>
        </p:txBody>
      </p:sp>
      <p:sp>
        <p:nvSpPr>
          <p:cNvPr id="3" name="Content Placeholder 2">
            <a:extLst>
              <a:ext uri="{FF2B5EF4-FFF2-40B4-BE49-F238E27FC236}">
                <a16:creationId xmlns:a16="http://schemas.microsoft.com/office/drawing/2014/main" id="{5620A5CA-8E96-7E02-4211-7DA3FDE3EE4B}"/>
              </a:ext>
            </a:extLst>
          </p:cNvPr>
          <p:cNvSpPr>
            <a:spLocks noGrp="1"/>
          </p:cNvSpPr>
          <p:nvPr>
            <p:ph idx="1"/>
          </p:nvPr>
        </p:nvSpPr>
        <p:spPr>
          <a:xfrm>
            <a:off x="838200" y="2368117"/>
            <a:ext cx="3778956" cy="4351338"/>
          </a:xfrm>
        </p:spPr>
        <p:txBody>
          <a:bodyPr/>
          <a:lstStyle/>
          <a:p>
            <a:r>
              <a:rPr lang="en-US" dirty="0"/>
              <a:t>Instead of training on data, we train on actions and observations</a:t>
            </a:r>
          </a:p>
          <a:p>
            <a:r>
              <a:rPr lang="en-US" dirty="0"/>
              <a:t>Trying to learn a policy, not plan a route</a:t>
            </a:r>
          </a:p>
          <a:p>
            <a:r>
              <a:rPr lang="en-US" dirty="0"/>
              <a:t>Non-deterministic environments</a:t>
            </a:r>
          </a:p>
          <a:p>
            <a:endParaRPr lang="en-US" dirty="0"/>
          </a:p>
        </p:txBody>
      </p:sp>
      <p:pic>
        <p:nvPicPr>
          <p:cNvPr id="5" name="Picture 4">
            <a:extLst>
              <a:ext uri="{FF2B5EF4-FFF2-40B4-BE49-F238E27FC236}">
                <a16:creationId xmlns:a16="http://schemas.microsoft.com/office/drawing/2014/main" id="{35079116-A571-CEEA-7321-BF52D17CD1B2}"/>
              </a:ext>
            </a:extLst>
          </p:cNvPr>
          <p:cNvPicPr>
            <a:picLocks noChangeAspect="1"/>
          </p:cNvPicPr>
          <p:nvPr/>
        </p:nvPicPr>
        <p:blipFill>
          <a:blip r:embed="rId2"/>
          <a:stretch>
            <a:fillRect/>
          </a:stretch>
        </p:blipFill>
        <p:spPr>
          <a:xfrm>
            <a:off x="4874194" y="2368117"/>
            <a:ext cx="6736644" cy="3789362"/>
          </a:xfrm>
          <a:prstGeom prst="rect">
            <a:avLst/>
          </a:prstGeom>
        </p:spPr>
      </p:pic>
    </p:spTree>
    <p:extLst>
      <p:ext uri="{BB962C8B-B14F-4D97-AF65-F5344CB8AC3E}">
        <p14:creationId xmlns:p14="http://schemas.microsoft.com/office/powerpoint/2010/main" val="714444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448411-3CDF-042C-28CC-550153564F29}"/>
              </a:ext>
            </a:extLst>
          </p:cNvPr>
          <p:cNvSpPr>
            <a:spLocks noGrp="1"/>
          </p:cNvSpPr>
          <p:nvPr>
            <p:ph type="title"/>
          </p:nvPr>
        </p:nvSpPr>
        <p:spPr/>
        <p:txBody>
          <a:bodyPr/>
          <a:lstStyle/>
          <a:p>
            <a:r>
              <a:rPr lang="en-US" dirty="0"/>
              <a:t>Components of Reinforcement Learning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6CEFA2C-760A-F28E-154F-CE9C1CCAA311}"/>
                  </a:ext>
                </a:extLst>
              </p:cNvPr>
              <p:cNvSpPr>
                <a:spLocks noGrp="1"/>
              </p:cNvSpPr>
              <p:nvPr>
                <p:ph idx="1"/>
              </p:nvPr>
            </p:nvSpPr>
            <p:spPr/>
            <p:txBody>
              <a:bodyPr/>
              <a:lstStyle/>
              <a:p>
                <a:r>
                  <a:rPr lang="en-US" dirty="0"/>
                  <a:t>Environment</a:t>
                </a:r>
              </a:p>
              <a:p>
                <a:r>
                  <a:rPr lang="en-US" dirty="0"/>
                  <a:t>States</a:t>
                </a:r>
              </a:p>
              <a:p>
                <a:r>
                  <a:rPr lang="en-US" dirty="0"/>
                  <a:t>Actions</a:t>
                </a:r>
              </a:p>
              <a:p>
                <a:r>
                  <a:rPr lang="en-US" dirty="0"/>
                  <a:t>Reward</a:t>
                </a:r>
              </a:p>
              <a:p>
                <a:r>
                  <a:rPr lang="en-US" dirty="0"/>
                  <a:t>Policy, </a:t>
                </a:r>
                <a14:m>
                  <m:oMath xmlns:m="http://schemas.openxmlformats.org/officeDocument/2006/math">
                    <m:r>
                      <a:rPr lang="en-US" b="0" i="0" smtClean="0">
                        <a:latin typeface="Cambria Math" panose="02040503050406030204" pitchFamily="18" charset="0"/>
                        <a:ea typeface="Cambria Math" panose="02040503050406030204" pitchFamily="18" charset="0"/>
                      </a:rPr>
                      <m:t> </m:t>
                    </m:r>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 </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D6CEFA2C-760A-F28E-154F-CE9C1CCAA311}"/>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8827384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13677-B0C9-3D35-8636-48A4B8F24CC3}"/>
              </a:ext>
            </a:extLst>
          </p:cNvPr>
          <p:cNvSpPr>
            <a:spLocks noGrp="1"/>
          </p:cNvSpPr>
          <p:nvPr>
            <p:ph type="title"/>
          </p:nvPr>
        </p:nvSpPr>
        <p:spPr/>
        <p:txBody>
          <a:bodyPr/>
          <a:lstStyle/>
          <a:p>
            <a:r>
              <a:rPr lang="en-US" dirty="0"/>
              <a:t>Markov Decision Process (MDP)</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C9E9A14-F1DF-99AA-5FE4-695A846F5A1A}"/>
                  </a:ext>
                </a:extLst>
              </p:cNvPr>
              <p:cNvSpPr>
                <a:spLocks noGrp="1"/>
              </p:cNvSpPr>
              <p:nvPr>
                <p:ph idx="1"/>
              </p:nvPr>
            </p:nvSpPr>
            <p:spPr/>
            <p:txBody>
              <a:bodyPr>
                <a:normAutofit lnSpcReduction="10000"/>
              </a:bodyPr>
              <a:lstStyle/>
              <a:p>
                <a14:m>
                  <m:oMath xmlns:m="http://schemas.openxmlformats.org/officeDocument/2006/math">
                    <m:r>
                      <a:rPr lang="en-US" b="0" i="1" smtClean="0">
                        <a:latin typeface="Cambria Math" panose="02040503050406030204" pitchFamily="18" charset="0"/>
                      </a:rPr>
                      <m:t>&lt;</m:t>
                    </m:r>
                    <m:r>
                      <a:rPr lang="en-US" b="0" i="1" smtClean="0">
                        <a:latin typeface="Cambria Math" panose="02040503050406030204" pitchFamily="18" charset="0"/>
                      </a:rPr>
                      <m:t>𝑆</m:t>
                    </m:r>
                    <m:r>
                      <a:rPr lang="en-US" b="0" i="1" smtClean="0">
                        <a:latin typeface="Cambria Math" panose="02040503050406030204" pitchFamily="18" charset="0"/>
                      </a:rPr>
                      <m:t>, </m:t>
                    </m:r>
                    <m:r>
                      <a:rPr lang="en-US" b="0" i="1" smtClean="0">
                        <a:latin typeface="Cambria Math" panose="02040503050406030204" pitchFamily="18" charset="0"/>
                      </a:rPr>
                      <m:t>𝐴</m:t>
                    </m:r>
                    <m:r>
                      <a:rPr lang="en-US" b="0" i="1" smtClean="0">
                        <a:latin typeface="Cambria Math" panose="02040503050406030204" pitchFamily="18" charset="0"/>
                      </a:rPr>
                      <m:t>, </m:t>
                    </m:r>
                    <m:r>
                      <a:rPr lang="en-US" b="0" i="1" smtClean="0">
                        <a:latin typeface="Cambria Math" panose="02040503050406030204" pitchFamily="18" charset="0"/>
                      </a:rPr>
                      <m:t>𝑇</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&gt;</m:t>
                    </m:r>
                  </m:oMath>
                </a14:m>
                <a:endParaRPr lang="en-US" dirty="0"/>
              </a:p>
              <a:p>
                <a:r>
                  <a:rPr lang="en-US" i="1" dirty="0">
                    <a:latin typeface="Times New Roman" panose="02020603050405020304" pitchFamily="18" charset="0"/>
                    <a:cs typeface="Times New Roman" panose="02020603050405020304" pitchFamily="18" charset="0"/>
                  </a:rPr>
                  <a:t>T</a:t>
                </a:r>
                <a:r>
                  <a:rPr lang="en-US" dirty="0"/>
                  <a:t>  is a transition function  :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0,1</m:t>
                        </m:r>
                      </m:e>
                    </m:d>
                    <m:r>
                      <a:rPr lang="en-US" b="0" i="1" smtClean="0">
                        <a:latin typeface="Cambria Math" panose="02040503050406030204" pitchFamily="18" charset="0"/>
                      </a:rPr>
                      <m:t>, </m:t>
                    </m:r>
                    <m:r>
                      <a:rPr lang="en-US" b="0" i="1" smtClean="0">
                        <a:latin typeface="Cambria Math" panose="02040503050406030204" pitchFamily="18" charset="0"/>
                      </a:rPr>
                      <m:t>𝑜𝑟</m:t>
                    </m:r>
                    <m:r>
                      <a:rPr lang="en-US" b="0" i="1" smtClean="0">
                        <a:latin typeface="Cambria Math" panose="02040503050406030204" pitchFamily="18" charset="0"/>
                      </a:rPr>
                      <m:t> </m:t>
                    </m:r>
                    <m:r>
                      <a:rPr lang="en-US" b="0" i="1" smtClean="0">
                        <a:latin typeface="Cambria Math" panose="02040503050406030204" pitchFamily="18" charset="0"/>
                      </a:rPr>
                      <m:t>𝑃</m:t>
                    </m:r>
                    <m:d>
                      <m:dPr>
                        <m:endChr m:val="|"/>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oMath>
                </a14:m>
                <a:endParaRPr lang="en-US" dirty="0"/>
              </a:p>
              <a:p>
                <a:r>
                  <a:rPr lang="en-US" dirty="0"/>
                  <a:t>Can think of </a:t>
                </a:r>
                <a:r>
                  <a:rPr lang="en-US" i="1" dirty="0">
                    <a:latin typeface="Times New Roman" panose="02020603050405020304" pitchFamily="18" charset="0"/>
                    <a:cs typeface="Times New Roman" panose="02020603050405020304" pitchFamily="18" charset="0"/>
                  </a:rPr>
                  <a:t>T </a:t>
                </a:r>
                <a:r>
                  <a:rPr lang="en-US" dirty="0">
                    <a:latin typeface="+mj-lt"/>
                    <a:cs typeface="Times New Roman" panose="02020603050405020304" pitchFamily="18" charset="0"/>
                  </a:rPr>
                  <a:t>as model of the world </a:t>
                </a:r>
              </a:p>
              <a:p>
                <a14:m>
                  <m:oMath xmlns:m="http://schemas.openxmlformats.org/officeDocument/2006/math">
                    <m:r>
                      <a:rPr lang="en-US" i="1" smtClean="0">
                        <a:latin typeface="Cambria Math" panose="02040503050406030204" pitchFamily="18" charset="0"/>
                        <a:ea typeface="Cambria Math" panose="02040503050406030204" pitchFamily="18" charset="0"/>
                        <a:cs typeface="Times New Roman" panose="02020603050405020304" pitchFamily="18" charset="0"/>
                      </a:rPr>
                      <m:t>𝛾</m:t>
                    </m:r>
                  </m:oMath>
                </a14:m>
                <a:r>
                  <a:rPr lang="en-US" dirty="0">
                    <a:latin typeface="+mj-lt"/>
                    <a:cs typeface="Times New Roman" panose="02020603050405020304" pitchFamily="18" charset="0"/>
                  </a:rPr>
                  <a:t> is a discount factor for reward</a:t>
                </a:r>
              </a:p>
              <a:p>
                <a14:m>
                  <m:oMath xmlns:m="http://schemas.openxmlformats.org/officeDocument/2006/math">
                    <m:r>
                      <a:rPr lang="en-US" b="0" i="1" smtClean="0">
                        <a:latin typeface="Cambria Math" panose="02040503050406030204" pitchFamily="18" charset="0"/>
                        <a:cs typeface="Times New Roman" panose="02020603050405020304" pitchFamily="18" charset="0"/>
                      </a:rPr>
                      <m:t>𝑅</m:t>
                    </m:r>
                    <m:r>
                      <a:rPr lang="en-US" b="0" i="1" smtClean="0">
                        <a:latin typeface="Cambria Math" panose="02040503050406030204" pitchFamily="18" charset="0"/>
                        <a:cs typeface="Times New Roman" panose="02020603050405020304" pitchFamily="18" charset="0"/>
                      </a:rPr>
                      <m:t>(</m:t>
                    </m:r>
                    <m:r>
                      <a:rPr lang="en-US" b="0" i="1" smtClean="0">
                        <a:latin typeface="Cambria Math" panose="02040503050406030204" pitchFamily="18" charset="0"/>
                        <a:cs typeface="Times New Roman" panose="02020603050405020304" pitchFamily="18" charset="0"/>
                      </a:rPr>
                      <m:t>𝑠</m:t>
                    </m:r>
                    <m:r>
                      <a:rPr lang="en-US" b="0" i="1" smtClean="0">
                        <a:latin typeface="Cambria Math" panose="02040503050406030204" pitchFamily="18" charset="0"/>
                        <a:cs typeface="Times New Roman" panose="02020603050405020304" pitchFamily="18" charset="0"/>
                      </a:rPr>
                      <m:t>)</m:t>
                    </m:r>
                  </m:oMath>
                </a14:m>
                <a:r>
                  <a:rPr lang="en-US" dirty="0">
                    <a:latin typeface="+mj-lt"/>
                    <a:cs typeface="Times New Roman" panose="02020603050405020304" pitchFamily="18" charset="0"/>
                  </a:rPr>
                  <a:t> is a reward function for the </a:t>
                </a:r>
                <a:r>
                  <a:rPr lang="en-US" b="1" i="1" dirty="0">
                    <a:latin typeface="+mj-lt"/>
                    <a:cs typeface="Times New Roman" panose="02020603050405020304" pitchFamily="18" charset="0"/>
                  </a:rPr>
                  <a:t>immediate</a:t>
                </a:r>
                <a:r>
                  <a:rPr lang="en-US" dirty="0">
                    <a:latin typeface="+mj-lt"/>
                    <a:cs typeface="Times New Roman" panose="02020603050405020304" pitchFamily="18" charset="0"/>
                  </a:rPr>
                  <a:t> reward for entering a state</a:t>
                </a:r>
              </a:p>
              <a:p>
                <a:r>
                  <a:rPr lang="en-US" dirty="0">
                    <a:latin typeface="+mj-lt"/>
                    <a:cs typeface="Times New Roman" panose="02020603050405020304" pitchFamily="18" charset="0"/>
                  </a:rPr>
                  <a:t>Think of reward in trajectories </a:t>
                </a:r>
              </a:p>
              <a:p>
                <a:r>
                  <a:rPr lang="en-US" dirty="0">
                    <a:latin typeface="+mj-lt"/>
                    <a:cs typeface="Times New Roman" panose="02020603050405020304" pitchFamily="18" charset="0"/>
                  </a:rPr>
                  <a:t>No goal state, the agent is just trying to maximize its reward </a:t>
                </a:r>
              </a:p>
              <a:p>
                <a:r>
                  <a:rPr lang="en-US" dirty="0">
                    <a:latin typeface="+mj-lt"/>
                    <a:cs typeface="Times New Roman" panose="02020603050405020304" pitchFamily="18" charset="0"/>
                  </a:rPr>
                  <a:t>Your reward dictates the agents behavior </a:t>
                </a:r>
              </a:p>
              <a:p>
                <a:endParaRPr lang="en-US" dirty="0"/>
              </a:p>
              <a:p>
                <a:endParaRPr lang="en-US" dirty="0"/>
              </a:p>
            </p:txBody>
          </p:sp>
        </mc:Choice>
        <mc:Fallback>
          <p:sp>
            <p:nvSpPr>
              <p:cNvPr id="3" name="Content Placeholder 2">
                <a:extLst>
                  <a:ext uri="{FF2B5EF4-FFF2-40B4-BE49-F238E27FC236}">
                    <a16:creationId xmlns:a16="http://schemas.microsoft.com/office/drawing/2014/main" id="{0C9E9A14-F1DF-99AA-5FE4-695A846F5A1A}"/>
                  </a:ext>
                </a:extLst>
              </p:cNvPr>
              <p:cNvSpPr>
                <a:spLocks noGrp="1" noRot="1" noChangeAspect="1" noMove="1" noResize="1" noEditPoints="1" noAdjustHandles="1" noChangeArrowheads="1" noChangeShapeType="1" noTextEdit="1"/>
              </p:cNvSpPr>
              <p:nvPr>
                <p:ph idx="1"/>
              </p:nvPr>
            </p:nvSpPr>
            <p:spPr>
              <a:blipFill>
                <a:blip r:embed="rId3"/>
                <a:stretch>
                  <a:fillRect l="-492" t="-407"/>
                </a:stretch>
              </a:blipFill>
            </p:spPr>
            <p:txBody>
              <a:bodyPr/>
              <a:lstStyle/>
              <a:p>
                <a:r>
                  <a:rPr lang="en-US">
                    <a:noFill/>
                  </a:rPr>
                  <a:t> </a:t>
                </a:r>
              </a:p>
            </p:txBody>
          </p:sp>
        </mc:Fallback>
      </mc:AlternateContent>
    </p:spTree>
    <p:extLst>
      <p:ext uri="{BB962C8B-B14F-4D97-AF65-F5344CB8AC3E}">
        <p14:creationId xmlns:p14="http://schemas.microsoft.com/office/powerpoint/2010/main" val="3155271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3EA78-C36A-245F-5A55-D7CE4234314A}"/>
              </a:ext>
            </a:extLst>
          </p:cNvPr>
          <p:cNvSpPr>
            <a:spLocks noGrp="1"/>
          </p:cNvSpPr>
          <p:nvPr>
            <p:ph type="title"/>
          </p:nvPr>
        </p:nvSpPr>
        <p:spPr/>
        <p:txBody>
          <a:bodyPr/>
          <a:lstStyle/>
          <a:p>
            <a:r>
              <a:rPr lang="en-US" dirty="0"/>
              <a:t>Policy</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43129EA-E411-6A6B-8957-F1AF4A3EF333}"/>
                  </a:ext>
                </a:extLst>
              </p:cNvPr>
              <p:cNvSpPr>
                <a:spLocks noGrp="1"/>
              </p:cNvSpPr>
              <p:nvPr>
                <p:ph idx="1"/>
              </p:nvPr>
            </p:nvSpPr>
            <p:spPr/>
            <p:txBody>
              <a:bodyPr>
                <a:normAutofit lnSpcReduction="10000"/>
              </a:bodyPr>
              <a:lstStyle/>
              <a:p>
                <a:r>
                  <a:rPr lang="en-US" dirty="0"/>
                  <a:t>Our solution to the MDP is a policy, or </a:t>
                </a:r>
                <a14:m>
                  <m:oMath xmlns:m="http://schemas.openxmlformats.org/officeDocument/2006/math">
                    <m:r>
                      <a:rPr lang="en-US" i="1" smtClean="0">
                        <a:latin typeface="Cambria Math" panose="02040503050406030204" pitchFamily="18" charset="0"/>
                        <a:ea typeface="Cambria Math" panose="02040503050406030204" pitchFamily="18" charset="0"/>
                      </a:rPr>
                      <m:t>𝜋</m:t>
                    </m:r>
                  </m:oMath>
                </a14:m>
                <a:endParaRPr lang="en-US" dirty="0"/>
              </a:p>
              <a:p>
                <a14:m>
                  <m:oMath xmlns:m="http://schemas.openxmlformats.org/officeDocument/2006/math">
                    <m:r>
                      <a:rPr lang="en-US"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oMath>
                </a14:m>
                <a:r>
                  <a:rPr lang="en-US" dirty="0"/>
                  <a:t> is the policy for what action to take in state </a:t>
                </a:r>
                <a14:m>
                  <m:oMath xmlns:m="http://schemas.openxmlformats.org/officeDocument/2006/math">
                    <m:r>
                      <a:rPr lang="en-US" b="0" i="1" smtClean="0">
                        <a:latin typeface="Cambria Math" panose="02040503050406030204" pitchFamily="18" charset="0"/>
                      </a:rPr>
                      <m:t>𝑠</m:t>
                    </m:r>
                    <m:r>
                      <a:rPr lang="en-US" b="0" i="0" smtClean="0">
                        <a:latin typeface="Cambria Math" panose="02040503050406030204" pitchFamily="18" charset="0"/>
                      </a:rPr>
                      <m:t> </m:t>
                    </m:r>
                  </m:oMath>
                </a14:m>
                <a:endParaRPr lang="en-US" dirty="0"/>
              </a:p>
              <a:p>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is the </a:t>
                </a:r>
                <a:r>
                  <a:rPr lang="en-US" i="1" dirty="0"/>
                  <a:t>best</a:t>
                </a:r>
                <a:r>
                  <a:rPr lang="en-US" dirty="0"/>
                  <a:t> action to take in state </a:t>
                </a:r>
                <a14:m>
                  <m:oMath xmlns:m="http://schemas.openxmlformats.org/officeDocument/2006/math">
                    <m:r>
                      <a:rPr lang="en-US" b="0" i="1" smtClean="0">
                        <a:latin typeface="Cambria Math" panose="02040503050406030204" pitchFamily="18" charset="0"/>
                      </a:rPr>
                      <m:t>𝑠</m:t>
                    </m:r>
                  </m:oMath>
                </a14:m>
                <a:r>
                  <a:rPr lang="en-US" dirty="0"/>
                  <a:t> </a:t>
                </a:r>
              </a:p>
              <a:p>
                <a:r>
                  <a:rPr lang="en-US" dirty="0"/>
                  <a:t>Utility Function </a:t>
                </a:r>
                <a14:m>
                  <m:oMath xmlns:m="http://schemas.openxmlformats.org/officeDocument/2006/math">
                    <m:r>
                      <a:rPr lang="en-US" b="0" i="1" smtClean="0">
                        <a:latin typeface="Cambria Math" panose="02040503050406030204" pitchFamily="18" charset="0"/>
                      </a:rPr>
                      <m:t>𝑈</m:t>
                    </m:r>
                  </m:oMath>
                </a14:m>
                <a:endParaRPr lang="en-US" b="0" i="1" dirty="0">
                  <a:latin typeface="Cambria Math" panose="02040503050406030204" pitchFamily="18" charset="0"/>
                </a:endParaRPr>
              </a:p>
              <a:p>
                <a14:m>
                  <m:oMath xmlns:m="http://schemas.openxmlformats.org/officeDocument/2006/math">
                    <m:r>
                      <a:rPr lang="en-US" sz="2400" b="0" i="1" smtClean="0">
                        <a:latin typeface="Cambria Math" panose="02040503050406030204" pitchFamily="18" charset="0"/>
                      </a:rPr>
                      <m:t>𝑈</m:t>
                    </m:r>
                    <m:d>
                      <m:dPr>
                        <m:ctrlPr>
                          <a:rPr lang="en-US" sz="2400" b="0" i="1" smtClean="0">
                            <a:latin typeface="Cambria Math" panose="02040503050406030204" pitchFamily="18" charset="0"/>
                          </a:rPr>
                        </m:ctrlPr>
                      </m:dPr>
                      <m:e>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0</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r>
                              <a:rPr lang="en-US" sz="2400" b="0" i="1" smtClean="0">
                                <a:latin typeface="Cambria Math" panose="02040503050406030204" pitchFamily="18" charset="0"/>
                              </a:rPr>
                              <m:t>, …,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3</m:t>
                                </m:r>
                              </m:sub>
                            </m:sSub>
                          </m:e>
                        </m:d>
                      </m:e>
                    </m:d>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𝛾</m:t>
                        </m:r>
                      </m:e>
                      <m:sup>
                        <m:r>
                          <a:rPr lang="en-US" sz="2400" b="0" i="1" smtClean="0">
                            <a:latin typeface="Cambria Math" panose="02040503050406030204" pitchFamily="18" charset="0"/>
                          </a:rPr>
                          <m:t>0</m:t>
                        </m:r>
                      </m:sup>
                    </m:sSup>
                    <m:r>
                      <a:rPr lang="en-US" sz="2400" b="0" i="1" smtClean="0">
                        <a:latin typeface="Cambria Math" panose="02040503050406030204" pitchFamily="18" charset="0"/>
                      </a:rPr>
                      <m:t>𝑅</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0</m:t>
                            </m:r>
                          </m:sub>
                        </m:sSub>
                      </m:e>
                    </m:d>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𝛾</m:t>
                        </m:r>
                      </m:e>
                      <m:sup>
                        <m:r>
                          <a:rPr lang="en-US" sz="2400" b="0" i="1" smtClean="0">
                            <a:latin typeface="Cambria Math" panose="02040503050406030204" pitchFamily="18" charset="0"/>
                          </a:rPr>
                          <m:t>1</m:t>
                        </m:r>
                      </m:sup>
                    </m:sSup>
                    <m:r>
                      <a:rPr lang="en-US" sz="2400" b="0" i="1" smtClean="0">
                        <a:latin typeface="Cambria Math" panose="02040503050406030204" pitchFamily="18" charset="0"/>
                      </a:rPr>
                      <m:t>𝑅</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1</m:t>
                            </m:r>
                          </m:sub>
                        </m:sSub>
                      </m:e>
                    </m:d>
                    <m:r>
                      <a:rPr lang="en-US" sz="2400" b="0" i="1" smtClean="0">
                        <a:latin typeface="Cambria Math" panose="02040503050406030204" pitchFamily="18" charset="0"/>
                      </a:rPr>
                      <m:t>+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𝛾</m:t>
                        </m:r>
                      </m:e>
                      <m:sup>
                        <m:r>
                          <a:rPr lang="en-US" sz="2400" b="0" i="1" smtClean="0">
                            <a:latin typeface="Cambria Math" panose="02040503050406030204" pitchFamily="18" charset="0"/>
                          </a:rPr>
                          <m:t>2</m:t>
                        </m:r>
                      </m:sup>
                    </m:sSup>
                    <m:r>
                      <a:rPr lang="en-US" sz="2400" b="0" i="1" smtClean="0">
                        <a:latin typeface="Cambria Math" panose="02040503050406030204" pitchFamily="18" charset="0"/>
                      </a:rPr>
                      <m:t>𝑅</m:t>
                    </m:r>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2</m:t>
                            </m:r>
                          </m:sub>
                        </m:sSub>
                      </m:e>
                    </m:d>
                    <m:r>
                      <a:rPr lang="en-US" sz="2400" b="0" i="1" smtClean="0">
                        <a:latin typeface="Cambria Math" panose="02040503050406030204" pitchFamily="18" charset="0"/>
                      </a:rPr>
                      <m:t>+ …+ </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ea typeface="Cambria Math" panose="02040503050406030204" pitchFamily="18" charset="0"/>
                          </a:rPr>
                          <m:t>𝛾</m:t>
                        </m:r>
                      </m:e>
                      <m:sup>
                        <m:r>
                          <a:rPr lang="en-US" sz="2400" b="0" i="1" smtClean="0">
                            <a:latin typeface="Cambria Math" panose="02040503050406030204" pitchFamily="18" charset="0"/>
                          </a:rPr>
                          <m:t>𝑛</m:t>
                        </m:r>
                      </m:sup>
                    </m:sSup>
                    <m:r>
                      <a:rPr lang="en-US" sz="2400" b="0" i="1" smtClean="0">
                        <a:latin typeface="Cambria Math" panose="02040503050406030204" pitchFamily="18" charset="0"/>
                      </a:rPr>
                      <m:t>𝑅</m:t>
                    </m:r>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𝑠</m:t>
                        </m:r>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oMath>
                </a14:m>
                <a:endParaRPr lang="en-US" sz="2400" dirty="0"/>
              </a:p>
              <a:p>
                <a:r>
                  <a:rPr lang="en-US" dirty="0"/>
                  <a:t>Value Iteration</a:t>
                </a:r>
              </a:p>
              <a:p>
                <a14:m>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𝜋</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𝑎𝑟𝑔𝑚𝑎𝑥</m:t>
                        </m:r>
                      </m:e>
                      <m:sub>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𝐴</m:t>
                        </m:r>
                      </m:sub>
                    </m:sSub>
                    <m:r>
                      <a:rPr lang="en-US" b="0" i="1" smtClean="0">
                        <a:latin typeface="Cambria Math" panose="02040503050406030204" pitchFamily="18" charset="0"/>
                      </a:rPr>
                      <m:t> </m:t>
                    </m:r>
                    <m:nary>
                      <m:naryPr>
                        <m:chr m:val="∑"/>
                        <m:supHide m:val="on"/>
                        <m:ctrlPr>
                          <a:rPr lang="en-US" b="0" i="1" smtClean="0">
                            <a:latin typeface="Cambria Math" panose="02040503050406030204" pitchFamily="18" charset="0"/>
                          </a:rPr>
                        </m:ctrlPr>
                      </m:naryPr>
                      <m:sub>
                        <m:r>
                          <m:rPr>
                            <m:brk m:alnAt="7"/>
                          </m:rP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 ∈ </m:t>
                        </m:r>
                        <m:r>
                          <a:rPr lang="en-US" b="0" i="1" smtClean="0">
                            <a:latin typeface="Cambria Math" panose="02040503050406030204" pitchFamily="18" charset="0"/>
                            <a:ea typeface="Cambria Math" panose="02040503050406030204" pitchFamily="18" charset="0"/>
                          </a:rPr>
                          <m:t>𝑆</m:t>
                        </m:r>
                      </m:sub>
                      <m:sup/>
                      <m:e>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𝑎</m:t>
                            </m:r>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 </m:t>
                        </m:r>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e>
                    </m:nary>
                  </m:oMath>
                </a14:m>
                <a:endParaRPr lang="en-US" dirty="0"/>
              </a:p>
            </p:txBody>
          </p:sp>
        </mc:Choice>
        <mc:Fallback>
          <p:sp>
            <p:nvSpPr>
              <p:cNvPr id="3" name="Content Placeholder 2">
                <a:extLst>
                  <a:ext uri="{FF2B5EF4-FFF2-40B4-BE49-F238E27FC236}">
                    <a16:creationId xmlns:a16="http://schemas.microsoft.com/office/drawing/2014/main" id="{E43129EA-E411-6A6B-8957-F1AF4A3EF333}"/>
                  </a:ext>
                </a:extLst>
              </p:cNvPr>
              <p:cNvSpPr>
                <a:spLocks noGrp="1" noRot="1" noChangeAspect="1" noMove="1" noResize="1" noEditPoints="1" noAdjustHandles="1" noChangeArrowheads="1" noChangeShapeType="1" noTextEdit="1"/>
              </p:cNvSpPr>
              <p:nvPr>
                <p:ph idx="1"/>
              </p:nvPr>
            </p:nvSpPr>
            <p:spPr>
              <a:blipFill>
                <a:blip r:embed="rId2"/>
                <a:stretch>
                  <a:fillRect l="-1148" t="-1626" b="-19919"/>
                </a:stretch>
              </a:blipFill>
            </p:spPr>
            <p:txBody>
              <a:bodyPr/>
              <a:lstStyle/>
              <a:p>
                <a:r>
                  <a:rPr lang="en-US">
                    <a:noFill/>
                  </a:rPr>
                  <a:t> </a:t>
                </a:r>
              </a:p>
            </p:txBody>
          </p:sp>
        </mc:Fallback>
      </mc:AlternateContent>
    </p:spTree>
    <p:extLst>
      <p:ext uri="{BB962C8B-B14F-4D97-AF65-F5344CB8AC3E}">
        <p14:creationId xmlns:p14="http://schemas.microsoft.com/office/powerpoint/2010/main" val="1852027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934CB-ADF4-0457-9904-D44499102123}"/>
              </a:ext>
            </a:extLst>
          </p:cNvPr>
          <p:cNvSpPr>
            <a:spLocks noGrp="1"/>
          </p:cNvSpPr>
          <p:nvPr>
            <p:ph type="title"/>
          </p:nvPr>
        </p:nvSpPr>
        <p:spPr/>
        <p:txBody>
          <a:bodyPr/>
          <a:lstStyle/>
          <a:p>
            <a:r>
              <a:rPr lang="en-US" dirty="0"/>
              <a:t>Bellman Equation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7F08017-B579-61FA-D298-A6F7399FED9E}"/>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𝑈</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𝑚𝑎𝑥</m:t>
                        </m:r>
                      </m:e>
                      <m:sub>
                        <m:r>
                          <a:rPr lang="en-US" b="0" i="1" smtClean="0">
                            <a:latin typeface="Cambria Math" panose="02040503050406030204" pitchFamily="18" charset="0"/>
                            <a:ea typeface="Cambria Math" panose="02040503050406030204" pitchFamily="18" charset="0"/>
                          </a:rPr>
                          <m:t>𝑎</m:t>
                        </m:r>
                      </m:sub>
                    </m:sSub>
                    <m:nary>
                      <m:naryPr>
                        <m:chr m:val="∑"/>
                        <m:supHide m:val="on"/>
                        <m:ctrlPr>
                          <a:rPr lang="en-US" b="0" i="1" smtClean="0">
                            <a:latin typeface="Cambria Math" panose="02040503050406030204" pitchFamily="18" charset="0"/>
                            <a:ea typeface="Cambria Math" panose="02040503050406030204" pitchFamily="18" charset="0"/>
                          </a:rPr>
                        </m:ctrlPr>
                      </m:naryPr>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sub>
                      <m:sup/>
                      <m:e>
                        <m:r>
                          <a:rPr lang="en-US" b="0" i="1" smtClean="0">
                            <a:latin typeface="Cambria Math" panose="02040503050406030204" pitchFamily="18" charset="0"/>
                            <a:ea typeface="Cambria Math" panose="02040503050406030204" pitchFamily="18" charset="0"/>
                          </a:rPr>
                          <m:t>𝑇</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e>
                    </m:nary>
                  </m:oMath>
                </a14:m>
                <a:endParaRPr lang="en-US" dirty="0"/>
              </a:p>
              <a:p>
                <a:r>
                  <a:rPr lang="en-US" dirty="0"/>
                  <a:t>This equation defines the value of following the optimal policy, not just the optimal policy</a:t>
                </a:r>
              </a:p>
              <a:p>
                <a:r>
                  <a:rPr lang="en-US" dirty="0"/>
                  <a:t>There is a problem – we need to know the next states utility to know the current states utility</a:t>
                </a:r>
              </a:p>
              <a:p>
                <a:r>
                  <a:rPr lang="en-US" dirty="0"/>
                  <a:t>What happens when we can end up in the same state we were just in? </a:t>
                </a:r>
              </a:p>
            </p:txBody>
          </p:sp>
        </mc:Choice>
        <mc:Fallback xmlns="">
          <p:sp>
            <p:nvSpPr>
              <p:cNvPr id="3" name="Content Placeholder 2">
                <a:extLst>
                  <a:ext uri="{FF2B5EF4-FFF2-40B4-BE49-F238E27FC236}">
                    <a16:creationId xmlns:a16="http://schemas.microsoft.com/office/drawing/2014/main" id="{87F08017-B579-61FA-D298-A6F7399FED9E}"/>
                  </a:ext>
                </a:extLst>
              </p:cNvPr>
              <p:cNvSpPr>
                <a:spLocks noGrp="1" noRot="1" noChangeAspect="1" noMove="1" noResize="1" noEditPoints="1" noAdjustHandles="1" noChangeArrowheads="1" noChangeShapeType="1" noTextEdit="1"/>
              </p:cNvSpPr>
              <p:nvPr>
                <p:ph idx="1"/>
              </p:nvPr>
            </p:nvSpPr>
            <p:spPr>
              <a:blipFill>
                <a:blip r:embed="rId2"/>
                <a:stretch>
                  <a:fillRect l="-1086" t="-16570" r="-1568"/>
                </a:stretch>
              </a:blipFill>
            </p:spPr>
            <p:txBody>
              <a:bodyPr/>
              <a:lstStyle/>
              <a:p>
                <a:r>
                  <a:rPr lang="en-US">
                    <a:noFill/>
                  </a:rPr>
                  <a:t> </a:t>
                </a:r>
              </a:p>
            </p:txBody>
          </p:sp>
        </mc:Fallback>
      </mc:AlternateContent>
    </p:spTree>
    <p:extLst>
      <p:ext uri="{BB962C8B-B14F-4D97-AF65-F5344CB8AC3E}">
        <p14:creationId xmlns:p14="http://schemas.microsoft.com/office/powerpoint/2010/main" val="3412455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347B83-5F55-A7A8-1D5B-27A0C51C6CD7}"/>
              </a:ext>
            </a:extLst>
          </p:cNvPr>
          <p:cNvSpPr>
            <a:spLocks noGrp="1"/>
          </p:cNvSpPr>
          <p:nvPr>
            <p:ph type="title"/>
          </p:nvPr>
        </p:nvSpPr>
        <p:spPr/>
        <p:txBody>
          <a:bodyPr/>
          <a:lstStyle/>
          <a:p>
            <a:r>
              <a:rPr lang="en-US" dirty="0"/>
              <a:t>Value Iteration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5938157-4DB2-F36B-D364-4030920BB156}"/>
                  </a:ext>
                </a:extLst>
              </p:cNvPr>
              <p:cNvSpPr>
                <a:spLocks noGrp="1"/>
              </p:cNvSpPr>
              <p:nvPr>
                <p:ph idx="1"/>
              </p:nvPr>
            </p:nvSpPr>
            <p:spPr/>
            <p:txBody>
              <a:bodyPr/>
              <a:lstStyle/>
              <a:p>
                <a:r>
                  <a:rPr lang="en-US" dirty="0"/>
                  <a:t>Value iteration just assumes it knows all the correct utilities</a:t>
                </a:r>
              </a:p>
              <a:p>
                <a:r>
                  <a:rPr lang="en-US" dirty="0"/>
                  <a:t>At the beginning, these utilities are often set to 0 or random</a:t>
                </a:r>
              </a:p>
              <a:p>
                <a:r>
                  <a:rPr lang="en-US" dirty="0"/>
                  <a:t>The Bellman update revisited</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𝑚𝑎𝑥</m:t>
                        </m:r>
                      </m:e>
                      <m:sub>
                        <m:r>
                          <a:rPr lang="en-US" b="0" i="1" smtClean="0">
                            <a:latin typeface="Cambria Math" panose="02040503050406030204" pitchFamily="18" charset="0"/>
                            <a:ea typeface="Cambria Math" panose="02040503050406030204" pitchFamily="18" charset="0"/>
                          </a:rPr>
                          <m:t>𝑎</m:t>
                        </m:r>
                      </m:sub>
                    </m:sSub>
                    <m:r>
                      <a:rPr lang="en-US" b="0" i="1" smtClean="0">
                        <a:latin typeface="Cambria Math" panose="02040503050406030204" pitchFamily="18" charset="0"/>
                        <a:ea typeface="Cambria Math" panose="02040503050406030204" pitchFamily="18" charset="0"/>
                      </a:rPr>
                      <m:t> </m:t>
                    </m:r>
                    <m:nary>
                      <m:naryPr>
                        <m:chr m:val="∑"/>
                        <m:supHide m:val="on"/>
                        <m:ctrlPr>
                          <a:rPr lang="en-US" b="0" i="1" smtClean="0">
                            <a:latin typeface="Cambria Math" panose="02040503050406030204" pitchFamily="18" charset="0"/>
                            <a:ea typeface="Cambria Math" panose="02040503050406030204" pitchFamily="18" charset="0"/>
                          </a:rPr>
                        </m:ctrlPr>
                      </m:naryPr>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sub>
                      <m:sup/>
                      <m:e>
                        <m:r>
                          <a:rPr lang="en-US" b="0" i="1" smtClean="0">
                            <a:latin typeface="Cambria Math" panose="02040503050406030204" pitchFamily="18" charset="0"/>
                            <a:ea typeface="Cambria Math" panose="02040503050406030204" pitchFamily="18" charset="0"/>
                          </a:rPr>
                          <m:t>𝑇</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e>
                        </m:d>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e>
                    </m:nary>
                    <m:r>
                      <a:rPr lang="en-US" b="0" i="1" smtClean="0">
                        <a:latin typeface="Cambria Math" panose="02040503050406030204" pitchFamily="18" charset="0"/>
                      </a:rPr>
                      <m:t> </m:t>
                    </m:r>
                  </m:oMath>
                </a14:m>
                <a:endParaRPr lang="en-US" dirty="0"/>
              </a:p>
              <a:p>
                <a:r>
                  <a:rPr lang="en-US" dirty="0"/>
                  <a:t>Repeat until convergence </a:t>
                </a:r>
              </a:p>
              <a:p>
                <a14:m>
                  <m:oMath xmlns:m="http://schemas.openxmlformats.org/officeDocument/2006/math">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𝑖</m:t>
                            </m:r>
                            <m:r>
                              <a:rPr lang="en-US" b="0" i="1" smtClean="0">
                                <a:latin typeface="Cambria Math" panose="02040503050406030204" pitchFamily="18" charset="0"/>
                              </a:rPr>
                              <m:t>+1</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e>
                    </m:d>
                    <m:r>
                      <a:rPr lang="en-US" b="0" i="1" smtClean="0">
                        <a:latin typeface="Cambria Math" panose="02040503050406030204" pitchFamily="18" charset="0"/>
                      </a:rPr>
                      <m:t>&lt; </m:t>
                    </m:r>
                    <m:r>
                      <a:rPr lang="en-US" i="1">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𝑤h𝑒𝑟𝑒</m:t>
                    </m:r>
                    <m:r>
                      <a:rPr lang="en-US" b="0" i="1" smtClean="0">
                        <a:latin typeface="Cambria Math" panose="02040503050406030204" pitchFamily="18" charset="0"/>
                        <a:ea typeface="Cambria Math" panose="02040503050406030204" pitchFamily="18" charset="0"/>
                      </a:rPr>
                      <m:t> 0≤</m:t>
                    </m:r>
                    <m:r>
                      <a:rPr lang="en-US" b="0"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≤1</m:t>
                    </m:r>
                  </m:oMath>
                </a14:m>
                <a:endParaRPr lang="en-US" dirty="0"/>
              </a:p>
              <a:p>
                <a:r>
                  <a:rPr lang="en-US" dirty="0"/>
                  <a:t>Can also use time budget to stop </a:t>
                </a:r>
              </a:p>
              <a:p>
                <a:pPr marL="0" indent="0">
                  <a:buNone/>
                </a:pPr>
                <a:endParaRPr lang="en-US" dirty="0"/>
              </a:p>
              <a:p>
                <a:endParaRPr lang="en-US" dirty="0"/>
              </a:p>
            </p:txBody>
          </p:sp>
        </mc:Choice>
        <mc:Fallback xmlns="">
          <p:sp>
            <p:nvSpPr>
              <p:cNvPr id="3" name="Content Placeholder 2">
                <a:extLst>
                  <a:ext uri="{FF2B5EF4-FFF2-40B4-BE49-F238E27FC236}">
                    <a16:creationId xmlns:a16="http://schemas.microsoft.com/office/drawing/2014/main" id="{C5938157-4DB2-F36B-D364-4030920BB156}"/>
                  </a:ext>
                </a:extLst>
              </p:cNvPr>
              <p:cNvSpPr>
                <a:spLocks noGrp="1" noRot="1" noChangeAspect="1" noMove="1" noResize="1" noEditPoints="1" noAdjustHandles="1" noChangeArrowheads="1" noChangeShapeType="1" noTextEdit="1"/>
              </p:cNvSpPr>
              <p:nvPr>
                <p:ph idx="1"/>
              </p:nvPr>
            </p:nvSpPr>
            <p:spPr>
              <a:blipFill>
                <a:blip r:embed="rId3"/>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28304059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FF0D-AC4A-C513-5D3D-5721BE280F6C}"/>
              </a:ext>
            </a:extLst>
          </p:cNvPr>
          <p:cNvSpPr>
            <a:spLocks noGrp="1"/>
          </p:cNvSpPr>
          <p:nvPr>
            <p:ph type="title"/>
          </p:nvPr>
        </p:nvSpPr>
        <p:spPr/>
        <p:txBody>
          <a:bodyPr/>
          <a:lstStyle/>
          <a:p>
            <a:r>
              <a:rPr lang="en-US" dirty="0"/>
              <a:t>Policy Iteration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F7F1ABC-290A-31D0-B8E6-D86C488724BB}"/>
                  </a:ext>
                </a:extLst>
              </p:cNvPr>
              <p:cNvSpPr>
                <a:spLocks noGrp="1"/>
              </p:cNvSpPr>
              <p:nvPr>
                <p:ph idx="1"/>
              </p:nvPr>
            </p:nvSpPr>
            <p:spPr/>
            <p:txBody>
              <a:bodyPr/>
              <a:lstStyle/>
              <a:p>
                <a:r>
                  <a:rPr lang="en-US" dirty="0"/>
                  <a:t>Sometimes we don’t need to know the exact value of state to learn optimal policy</a:t>
                </a:r>
              </a:p>
              <a:p>
                <a:r>
                  <a:rPr lang="en-US" dirty="0"/>
                  <a:t>Start with the wrong policy,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0</m:t>
                        </m:r>
                      </m:sub>
                    </m:sSub>
                  </m:oMath>
                </a14:m>
                <a:r>
                  <a:rPr lang="en-US" dirty="0"/>
                  <a:t>, and make it better over time </a:t>
                </a:r>
              </a:p>
              <a:p>
                <a:r>
                  <a:rPr lang="en-US" dirty="0"/>
                  <a:t>1) Policy evaluation : calculate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rPr>
                      <m:t>𝑓𝑜𝑟</m:t>
                    </m:r>
                    <m:r>
                      <a:rPr lang="en-US" b="0" i="1" smtClean="0">
                        <a:latin typeface="Cambria Math" panose="02040503050406030204" pitchFamily="18" charset="0"/>
                      </a:rPr>
                      <m:t> </m:t>
                    </m:r>
                    <m:r>
                      <a:rPr lang="en-US" b="0" i="1" smtClean="0">
                        <a:latin typeface="Cambria Math" panose="02040503050406030204" pitchFamily="18" charset="0"/>
                      </a:rPr>
                      <m:t>𝑎𝑙𝑙</m:t>
                    </m:r>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𝑆</m:t>
                    </m:r>
                  </m:oMath>
                </a14:m>
                <a:r>
                  <a:rPr lang="en-US" dirty="0"/>
                  <a:t> as if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rPr>
                          <m:t>𝑖</m:t>
                        </m:r>
                      </m:sub>
                    </m:sSub>
                  </m:oMath>
                </a14:m>
                <a:r>
                  <a:rPr lang="en-US" dirty="0"/>
                  <a:t> was followed </a:t>
                </a:r>
              </a:p>
              <a:p>
                <a:r>
                  <a:rPr lang="en-US" dirty="0"/>
                  <a:t>2) Policy improvement : calculate new maximum expected utility policy by using one step lookahead</a:t>
                </a:r>
              </a:p>
              <a:p>
                <a:r>
                  <a:rPr lang="en-US" dirty="0"/>
                  <a:t>3) Repeat until </a:t>
                </a:r>
                <a14:m>
                  <m:oMath xmlns:m="http://schemas.openxmlformats.org/officeDocument/2006/math">
                    <m:r>
                      <a:rPr lang="en-US" i="1" smtClean="0">
                        <a:latin typeface="Cambria Math" panose="02040503050406030204" pitchFamily="18" charset="0"/>
                        <a:ea typeface="Cambria Math" panose="02040503050406030204" pitchFamily="18" charset="0"/>
                      </a:rPr>
                      <m:t>𝜋</m:t>
                    </m:r>
                  </m:oMath>
                </a14:m>
                <a:r>
                  <a:rPr lang="en-US" dirty="0"/>
                  <a:t> doesn’t change</a:t>
                </a:r>
              </a:p>
              <a:p>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4F7F1ABC-290A-31D0-B8E6-D86C488724BB}"/>
                  </a:ext>
                </a:extLst>
              </p:cNvPr>
              <p:cNvSpPr>
                <a:spLocks noGrp="1" noRot="1" noChangeAspect="1" noMove="1" noResize="1" noEditPoints="1" noAdjustHandles="1" noChangeArrowheads="1" noChangeShapeType="1" noTextEdit="1"/>
              </p:cNvSpPr>
              <p:nvPr>
                <p:ph idx="1"/>
              </p:nvPr>
            </p:nvSpPr>
            <p:spPr>
              <a:blipFill>
                <a:blip r:embed="rId3"/>
                <a:stretch>
                  <a:fillRect l="-1086" t="-2326" r="-1568"/>
                </a:stretch>
              </a:blipFill>
            </p:spPr>
            <p:txBody>
              <a:bodyPr/>
              <a:lstStyle/>
              <a:p>
                <a:r>
                  <a:rPr lang="en-US">
                    <a:noFill/>
                  </a:rPr>
                  <a:t> </a:t>
                </a:r>
              </a:p>
            </p:txBody>
          </p:sp>
        </mc:Fallback>
      </mc:AlternateContent>
    </p:spTree>
    <p:extLst>
      <p:ext uri="{BB962C8B-B14F-4D97-AF65-F5344CB8AC3E}">
        <p14:creationId xmlns:p14="http://schemas.microsoft.com/office/powerpoint/2010/main" val="315536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F8775-830A-DAEF-97B4-88730EA93472}"/>
              </a:ext>
            </a:extLst>
          </p:cNvPr>
          <p:cNvSpPr>
            <a:spLocks noGrp="1"/>
          </p:cNvSpPr>
          <p:nvPr>
            <p:ph type="title"/>
          </p:nvPr>
        </p:nvSpPr>
        <p:spPr/>
        <p:txBody>
          <a:bodyPr/>
          <a:lstStyle/>
          <a:p>
            <a:r>
              <a:rPr lang="en-US" dirty="0"/>
              <a:t>Policy Iteration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841DB3B-A0E7-C6E2-08A9-EF989DE399E8}"/>
                  </a:ext>
                </a:extLst>
              </p:cNvPr>
              <p:cNvSpPr>
                <a:spLocks noGrp="1"/>
              </p:cNvSpPr>
              <p:nvPr>
                <p:ph idx="1"/>
              </p:nvPr>
            </p:nvSpPr>
            <p:spPr/>
            <p:txBody>
              <a:bodyPr/>
              <a:lstStyle/>
              <a:p>
                <a:r>
                  <a:rPr lang="en-US" dirty="0"/>
                  <a:t>How to do policy improvement and evaluation? </a:t>
                </a:r>
              </a:p>
              <a:p>
                <a:r>
                  <a:rPr lang="en-US" dirty="0"/>
                  <a:t>Improvement is easy, </a:t>
                </a:r>
                <a14:m>
                  <m:oMath xmlns:m="http://schemas.openxmlformats.org/officeDocument/2006/math">
                    <m:r>
                      <a:rPr lang="en-US"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𝑎</m:t>
                        </m:r>
                      </m:sub>
                    </m:sSub>
                    <m:nary>
                      <m:naryPr>
                        <m:chr m:val="∑"/>
                        <m:supHide m:val="on"/>
                        <m:ctrlPr>
                          <a:rPr lang="en-US" b="0" i="1" smtClean="0">
                            <a:latin typeface="Cambria Math" panose="02040503050406030204" pitchFamily="18" charset="0"/>
                            <a:ea typeface="Cambria Math" panose="02040503050406030204" pitchFamily="18" charset="0"/>
                          </a:rPr>
                        </m:ctrlPr>
                      </m:naryPr>
                      <m:sub>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sub>
                      <m:sup/>
                      <m:e>
                        <m:r>
                          <a:rPr lang="en-US" b="0" i="1" smtClean="0">
                            <a:latin typeface="Cambria Math" panose="02040503050406030204" pitchFamily="18" charset="0"/>
                            <a:ea typeface="Cambria Math" panose="02040503050406030204" pitchFamily="18" charset="0"/>
                          </a:rPr>
                          <m:t>𝑇</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𝑈</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e>
                    </m:nary>
                  </m:oMath>
                </a14:m>
                <a:endParaRPr lang="en-US" b="0" dirty="0">
                  <a:ea typeface="Cambria Math" panose="02040503050406030204" pitchFamily="18" charset="0"/>
                </a:endParaRPr>
              </a:p>
              <a:p>
                <a:r>
                  <a:rPr lang="en-US" dirty="0"/>
                  <a:t>For evaluation, we could do </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𝑈</m:t>
                        </m:r>
                      </m:e>
                      <m:sub>
                        <m:r>
                          <a:rPr lang="en-US" b="0" i="1" smtClean="0">
                            <a:latin typeface="Cambria Math" panose="02040503050406030204" pitchFamily="18" charset="0"/>
                          </a:rPr>
                          <m:t>𝑖</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𝛾</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𝑠</m:t>
                        </m:r>
                      </m:sub>
                      <m:sup/>
                      <m:e>
                        <m:r>
                          <a:rPr lang="en-US" b="0" i="1" smtClean="0">
                            <a:latin typeface="Cambria Math" panose="02040503050406030204" pitchFamily="18" charset="0"/>
                            <a:ea typeface="Cambria Math" panose="02040503050406030204" pitchFamily="18" charset="0"/>
                          </a:rPr>
                          <m:t>𝑇</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𝑖</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e>
                        </m:d>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𝑈</m:t>
                            </m:r>
                          </m:e>
                          <m:sub>
                            <m:r>
                              <a:rPr lang="en-US" b="0" i="1" smtClean="0">
                                <a:latin typeface="Cambria Math" panose="02040503050406030204" pitchFamily="18" charset="0"/>
                                <a:ea typeface="Cambria Math" panose="02040503050406030204" pitchFamily="18" charset="0"/>
                              </a:rPr>
                              <m:t>𝑖</m:t>
                            </m:r>
                          </m:sub>
                        </m:sSub>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e>
                    </m:nary>
                  </m:oMath>
                </a14:m>
                <a:endParaRPr lang="en-US" dirty="0"/>
              </a:p>
              <a:p>
                <a:r>
                  <a:rPr lang="en-US" dirty="0"/>
                  <a:t>Could also run value iteration inside policy iteration for k number of steps each iteration</a:t>
                </a:r>
              </a:p>
            </p:txBody>
          </p:sp>
        </mc:Choice>
        <mc:Fallback xmlns="">
          <p:sp>
            <p:nvSpPr>
              <p:cNvPr id="3" name="Content Placeholder 2">
                <a:extLst>
                  <a:ext uri="{FF2B5EF4-FFF2-40B4-BE49-F238E27FC236}">
                    <a16:creationId xmlns:a16="http://schemas.microsoft.com/office/drawing/2014/main" id="{A841DB3B-A0E7-C6E2-08A9-EF989DE399E8}"/>
                  </a:ext>
                </a:extLst>
              </p:cNvPr>
              <p:cNvSpPr>
                <a:spLocks noGrp="1" noRot="1" noChangeAspect="1" noMove="1" noResize="1" noEditPoints="1" noAdjustHandles="1" noChangeArrowheads="1" noChangeShapeType="1" noTextEdit="1"/>
              </p:cNvSpPr>
              <p:nvPr>
                <p:ph idx="1"/>
              </p:nvPr>
            </p:nvSpPr>
            <p:spPr>
              <a:blipFill>
                <a:blip r:embed="rId2"/>
                <a:stretch>
                  <a:fillRect l="-1086" t="-4360"/>
                </a:stretch>
              </a:blipFill>
            </p:spPr>
            <p:txBody>
              <a:bodyPr/>
              <a:lstStyle/>
              <a:p>
                <a:r>
                  <a:rPr lang="en-US">
                    <a:noFill/>
                  </a:rPr>
                  <a:t> </a:t>
                </a:r>
              </a:p>
            </p:txBody>
          </p:sp>
        </mc:Fallback>
      </mc:AlternateContent>
    </p:spTree>
    <p:extLst>
      <p:ext uri="{BB962C8B-B14F-4D97-AF65-F5344CB8AC3E}">
        <p14:creationId xmlns:p14="http://schemas.microsoft.com/office/powerpoint/2010/main" val="2885049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68987-9125-459E-941F-F10C180EE0A0}"/>
              </a:ext>
            </a:extLst>
          </p:cNvPr>
          <p:cNvSpPr>
            <a:spLocks noGrp="1"/>
          </p:cNvSpPr>
          <p:nvPr>
            <p:ph type="title"/>
          </p:nvPr>
        </p:nvSpPr>
        <p:spPr/>
        <p:txBody>
          <a:bodyPr/>
          <a:lstStyle/>
          <a:p>
            <a:r>
              <a:rPr lang="en-US" dirty="0"/>
              <a:t>Reinforcement Learning (RL)</a:t>
            </a:r>
          </a:p>
        </p:txBody>
      </p:sp>
      <p:sp>
        <p:nvSpPr>
          <p:cNvPr id="3" name="Content Placeholder 2">
            <a:extLst>
              <a:ext uri="{FF2B5EF4-FFF2-40B4-BE49-F238E27FC236}">
                <a16:creationId xmlns:a16="http://schemas.microsoft.com/office/drawing/2014/main" id="{B288EF99-B54F-4C3F-0E4D-58DFDF465314}"/>
              </a:ext>
            </a:extLst>
          </p:cNvPr>
          <p:cNvSpPr>
            <a:spLocks noGrp="1"/>
          </p:cNvSpPr>
          <p:nvPr>
            <p:ph idx="1"/>
          </p:nvPr>
        </p:nvSpPr>
        <p:spPr/>
        <p:txBody>
          <a:bodyPr/>
          <a:lstStyle/>
          <a:p>
            <a:r>
              <a:rPr lang="en-US" dirty="0"/>
              <a:t>What if we don’t know the transition function? </a:t>
            </a:r>
          </a:p>
          <a:p>
            <a:r>
              <a:rPr lang="en-US" dirty="0"/>
              <a:t>Reinforcement learning should be used when you don’t know all the information</a:t>
            </a:r>
          </a:p>
          <a:p>
            <a:r>
              <a:rPr lang="en-US" dirty="0"/>
              <a:t>The agent samples the environment, exploring it by taking actions and receiving observations </a:t>
            </a:r>
          </a:p>
          <a:p>
            <a:r>
              <a:rPr lang="en-US" dirty="0"/>
              <a:t>Model based RL uses these samples to try and build our transition function</a:t>
            </a:r>
          </a:p>
          <a:p>
            <a:r>
              <a:rPr lang="en-US" dirty="0"/>
              <a:t>Model free RL tries to directly learn the policy, doesn’t model the world </a:t>
            </a:r>
          </a:p>
        </p:txBody>
      </p:sp>
    </p:spTree>
    <p:extLst>
      <p:ext uri="{BB962C8B-B14F-4D97-AF65-F5344CB8AC3E}">
        <p14:creationId xmlns:p14="http://schemas.microsoft.com/office/powerpoint/2010/main" val="2580947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A9CBE-0EFA-C582-4802-177581E52488}"/>
              </a:ext>
            </a:extLst>
          </p:cNvPr>
          <p:cNvSpPr>
            <a:spLocks noGrp="1"/>
          </p:cNvSpPr>
          <p:nvPr>
            <p:ph type="title"/>
          </p:nvPr>
        </p:nvSpPr>
        <p:spPr/>
        <p:txBody>
          <a:bodyPr/>
          <a:lstStyle/>
          <a:p>
            <a:r>
              <a:rPr lang="en-US" dirty="0"/>
              <a:t>Model Based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59E404C-3370-01F0-9E08-646BEB10269A}"/>
                  </a:ext>
                </a:extLst>
              </p:cNvPr>
              <p:cNvSpPr>
                <a:spLocks noGrp="1"/>
              </p:cNvSpPr>
              <p:nvPr>
                <p:ph idx="1"/>
              </p:nvPr>
            </p:nvSpPr>
            <p:spPr/>
            <p:txBody>
              <a:bodyPr/>
              <a:lstStyle/>
              <a:p>
                <a:r>
                  <a:rPr lang="en-US" dirty="0"/>
                  <a:t>Explore randomly while computing MLE for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oMath>
                </a14:m>
                <a:r>
                  <a:rPr lang="en-US" dirty="0"/>
                  <a:t> and </a:t>
                </a: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endParaRPr lang="en-US" dirty="0"/>
              </a:p>
              <a:p>
                <a:r>
                  <a:rPr lang="en-US" dirty="0"/>
                  <a:t>You can treat this as a supervised learning problem</a:t>
                </a:r>
              </a:p>
              <a:p>
                <a:r>
                  <a:rPr lang="en-US" dirty="0"/>
                  <a:t>Be careful because samples are correlated</a:t>
                </a:r>
              </a:p>
              <a:p>
                <a:r>
                  <a:rPr lang="en-US" dirty="0"/>
                  <a:t>Still a problem, we are exploring randomly</a:t>
                </a:r>
              </a:p>
              <a:p>
                <a:endParaRPr lang="en-US" dirty="0"/>
              </a:p>
            </p:txBody>
          </p:sp>
        </mc:Choice>
        <mc:Fallback xmlns="">
          <p:sp>
            <p:nvSpPr>
              <p:cNvPr id="3" name="Content Placeholder 2">
                <a:extLst>
                  <a:ext uri="{FF2B5EF4-FFF2-40B4-BE49-F238E27FC236}">
                    <a16:creationId xmlns:a16="http://schemas.microsoft.com/office/drawing/2014/main" id="{859E404C-3370-01F0-9E08-646BEB10269A}"/>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13943822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7D80C-153D-4075-98B9-74E90AE14418}"/>
              </a:ext>
            </a:extLst>
          </p:cNvPr>
          <p:cNvSpPr>
            <a:spLocks noGrp="1"/>
          </p:cNvSpPr>
          <p:nvPr>
            <p:ph type="title"/>
          </p:nvPr>
        </p:nvSpPr>
        <p:spPr/>
        <p:txBody>
          <a:bodyPr/>
          <a:lstStyle/>
          <a:p>
            <a:r>
              <a:rPr lang="en-US" dirty="0"/>
              <a:t>R-Max</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75B0824-B8CB-1975-933C-89A588D127A1}"/>
                  </a:ext>
                </a:extLst>
              </p:cNvPr>
              <p:cNvSpPr>
                <a:spLocks noGrp="1"/>
              </p:cNvSpPr>
              <p:nvPr>
                <p:ph idx="1"/>
              </p:nvPr>
            </p:nvSpPr>
            <p:spPr/>
            <p:txBody>
              <a:bodyPr/>
              <a:lstStyle/>
              <a:p>
                <a:r>
                  <a:rPr lang="en-US" dirty="0"/>
                  <a:t>”Known” MDP is what the agent thinks </a:t>
                </a:r>
              </a:p>
              <a:p>
                <a:r>
                  <a:rPr lang="en-US" dirty="0"/>
                  <a:t>“Real” MDP is the actual environment</a:t>
                </a:r>
              </a:p>
              <a:p>
                <a:r>
                  <a:rPr lang="en-US" dirty="0"/>
                  <a:t>Agent acts in the real MDP and plans in the know MDP</a:t>
                </a:r>
              </a:p>
              <a:p>
                <a:r>
                  <a:rPr lang="en-US" dirty="0"/>
                  <a:t>Set reward at every state equal to r-max in known MDP</a:t>
                </a:r>
              </a:p>
              <a:p>
                <a:r>
                  <a:rPr lang="en-US" dirty="0"/>
                  <a:t>In known MDP, at state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0</m:t>
                        </m:r>
                      </m:sub>
                    </m:sSub>
                  </m:oMath>
                </a14:m>
                <a:r>
                  <a:rPr lang="en-US" dirty="0"/>
                  <a:t> with reward set to r-max. Then make every other state ( all unknown states ) transition to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0</m:t>
                        </m:r>
                      </m:sub>
                    </m:sSub>
                  </m:oMath>
                </a14:m>
                <a:r>
                  <a:rPr lang="en-US" dirty="0"/>
                  <a:t> in the known MDP. </a:t>
                </a:r>
              </a:p>
              <a:p>
                <a:endParaRPr lang="en-US" dirty="0"/>
              </a:p>
            </p:txBody>
          </p:sp>
        </mc:Choice>
        <mc:Fallback xmlns="">
          <p:sp>
            <p:nvSpPr>
              <p:cNvPr id="3" name="Content Placeholder 2">
                <a:extLst>
                  <a:ext uri="{FF2B5EF4-FFF2-40B4-BE49-F238E27FC236}">
                    <a16:creationId xmlns:a16="http://schemas.microsoft.com/office/drawing/2014/main" id="{D75B0824-B8CB-1975-933C-89A588D127A1}"/>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845018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FC4CB-DC42-D1B9-FBA7-C1E78E88F535}"/>
              </a:ext>
            </a:extLst>
          </p:cNvPr>
          <p:cNvSpPr>
            <a:spLocks noGrp="1"/>
          </p:cNvSpPr>
          <p:nvPr>
            <p:ph type="title"/>
          </p:nvPr>
        </p:nvSpPr>
        <p:spPr/>
        <p:txBody>
          <a:bodyPr/>
          <a:lstStyle/>
          <a:p>
            <a:r>
              <a:rPr lang="en-US" dirty="0"/>
              <a:t>R-Max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D1F6E4B-0D03-C68E-2928-73599EE45B55}"/>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keeps track of times action a taken in state s</a:t>
                </a:r>
              </a:p>
              <a:p>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r>
                  <a:rPr lang="en-US" dirty="0"/>
                  <a:t> keeps track of how many times that action transitioned to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oMath>
                </a14:m>
                <a:endParaRPr lang="en-US" dirty="0"/>
              </a:p>
              <a:p>
                <a:r>
                  <a:rPr lang="en-US" dirty="0"/>
                  <a:t>If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exceeds some threshold by the end of an episode, that state becomes “known” </a:t>
                </a:r>
              </a:p>
              <a:p>
                <a:r>
                  <a:rPr lang="en-US" dirty="0"/>
                  <a:t>Update transitions in the known MDP and replan</a:t>
                </a:r>
              </a:p>
            </p:txBody>
          </p:sp>
        </mc:Choice>
        <mc:Fallback xmlns="">
          <p:sp>
            <p:nvSpPr>
              <p:cNvPr id="3" name="Content Placeholder 2">
                <a:extLst>
                  <a:ext uri="{FF2B5EF4-FFF2-40B4-BE49-F238E27FC236}">
                    <a16:creationId xmlns:a16="http://schemas.microsoft.com/office/drawing/2014/main" id="{ED1F6E4B-0D03-C68E-2928-73599EE45B55}"/>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2371823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5E6F55-3A1C-A475-D1C9-FDAAD27C97F1}"/>
              </a:ext>
            </a:extLst>
          </p:cNvPr>
          <p:cNvSpPr>
            <a:spLocks noGrp="1"/>
          </p:cNvSpPr>
          <p:nvPr>
            <p:ph type="title"/>
          </p:nvPr>
        </p:nvSpPr>
        <p:spPr/>
        <p:txBody>
          <a:bodyPr/>
          <a:lstStyle/>
          <a:p>
            <a:r>
              <a:rPr lang="en-US" dirty="0"/>
              <a:t>Model Free Methods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22AFD38-BA87-E269-9872-5257BD306291}"/>
                  </a:ext>
                </a:extLst>
              </p:cNvPr>
              <p:cNvSpPr>
                <a:spLocks noGrp="1"/>
              </p:cNvSpPr>
              <p:nvPr>
                <p:ph idx="1"/>
              </p:nvPr>
            </p:nvSpPr>
            <p:spPr/>
            <p:txBody>
              <a:bodyPr/>
              <a:lstStyle/>
              <a:p>
                <a:r>
                  <a:rPr lang="en-US" dirty="0"/>
                  <a:t>Model free methods can be thought of as value based and policy based methods </a:t>
                </a:r>
              </a:p>
              <a:p>
                <a:r>
                  <a:rPr lang="en-US" dirty="0"/>
                  <a:t>Value based methods try to learn a function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estimating the value of a state, or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to estimate the value of taking action a in state s. </a:t>
                </a:r>
              </a:p>
              <a:p>
                <a:r>
                  <a:rPr lang="en-US" dirty="0"/>
                  <a:t>Policy based methods try to directly learn the policy instead of estimating action and state value. </a:t>
                </a:r>
              </a:p>
            </p:txBody>
          </p:sp>
        </mc:Choice>
        <mc:Fallback xmlns="">
          <p:sp>
            <p:nvSpPr>
              <p:cNvPr id="3" name="Content Placeholder 2">
                <a:extLst>
                  <a:ext uri="{FF2B5EF4-FFF2-40B4-BE49-F238E27FC236}">
                    <a16:creationId xmlns:a16="http://schemas.microsoft.com/office/drawing/2014/main" id="{722AFD38-BA87-E269-9872-5257BD306291}"/>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2426884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8EA5-A261-692E-6DFB-79A0E6E89478}"/>
              </a:ext>
            </a:extLst>
          </p:cNvPr>
          <p:cNvSpPr>
            <a:spLocks noGrp="1"/>
          </p:cNvSpPr>
          <p:nvPr>
            <p:ph type="title"/>
          </p:nvPr>
        </p:nvSpPr>
        <p:spPr/>
        <p:txBody>
          <a:bodyPr/>
          <a:lstStyle/>
          <a:p>
            <a:r>
              <a:rPr lang="en-US" dirty="0"/>
              <a:t>Temporal difference learning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EF99A50-4AF2-134D-1445-9D6F9101C072}"/>
                  </a:ext>
                </a:extLst>
              </p:cNvPr>
              <p:cNvSpPr>
                <a:spLocks noGrp="1"/>
              </p:cNvSpPr>
              <p:nvPr>
                <p:ph idx="1"/>
              </p:nvPr>
            </p:nvSpPr>
            <p:spPr/>
            <p:txBody>
              <a:bodyPr/>
              <a:lstStyle/>
              <a:p>
                <a:r>
                  <a:rPr lang="en-US" dirty="0"/>
                  <a:t>Maintain expected value of state looking ahead some number of steps</a:t>
                </a:r>
              </a:p>
              <a:p>
                <a:r>
                  <a:rPr lang="en-US" dirty="0"/>
                  <a:t>TD(0) is a one step lookahead </a:t>
                </a:r>
              </a:p>
              <a:p>
                <a14:m>
                  <m:oMath xmlns:m="http://schemas.openxmlformats.org/officeDocument/2006/math">
                    <m:r>
                      <a:rPr lang="en-US" b="0" i="1" smtClean="0">
                        <a:latin typeface="Cambria Math" panose="02040503050406030204" pitchFamily="18" charset="0"/>
                      </a:rPr>
                      <m:t>𝑠𝑎𝑚𝑝𝑙𝑒</m:t>
                    </m:r>
                    <m:r>
                      <a:rPr lang="en-US" b="0" i="1" smtClean="0">
                        <a:latin typeface="Cambria Math" panose="02040503050406030204" pitchFamily="18" charset="0"/>
                      </a:rPr>
                      <m:t>=</m:t>
                    </m:r>
                    <m:r>
                      <a:rPr lang="en-US" b="0" i="1" smtClean="0">
                        <a:latin typeface="Cambria Math" panose="02040503050406030204" pitchFamily="18" charset="0"/>
                      </a:rPr>
                      <m:t>𝑅</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𝜋</m:t>
                        </m:r>
                      </m:sup>
                    </m:sSup>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oMath>
                </a14:m>
                <a:endParaRPr lang="en-US" dirty="0"/>
              </a:p>
              <a:p>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𝑉</m:t>
                        </m:r>
                      </m:e>
                      <m:sup>
                        <m:r>
                          <a:rPr lang="en-US" i="1" smtClean="0">
                            <a:latin typeface="Cambria Math" panose="02040503050406030204" pitchFamily="18" charset="0"/>
                            <a:ea typeface="Cambria Math" panose="02040503050406030204" pitchFamily="18" charset="0"/>
                          </a:rPr>
                          <m:t>𝜋</m:t>
                        </m:r>
                      </m:sup>
                    </m:sSup>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oMath>
                </a14:m>
                <a:r>
                  <a:rPr lang="en-US" dirty="0"/>
                  <a:t> is the expected value of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oMath>
                </a14:m>
                <a:r>
                  <a:rPr lang="en-US" dirty="0"/>
                  <a:t> if we follow the policy from here on out</a:t>
                </a:r>
              </a:p>
              <a:p>
                <a:r>
                  <a:rPr lang="en-US" dirty="0"/>
                  <a:t>For our update we do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𝑉</m:t>
                        </m:r>
                      </m:e>
                      <m:sup>
                        <m:r>
                          <a:rPr lang="en-US" i="1" smtClean="0">
                            <a:latin typeface="Cambria Math" panose="02040503050406030204" pitchFamily="18" charset="0"/>
                            <a:ea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𝜋</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𝑠𝑎𝑚𝑝𝑙𝑒</m:t>
                    </m:r>
                    <m:r>
                      <a:rPr lang="en-US" b="0" i="1" smtClean="0">
                        <a:latin typeface="Cambria Math" panose="02040503050406030204" pitchFamily="18" charset="0"/>
                        <a:ea typeface="Cambria Math" panose="02040503050406030204" pitchFamily="18" charset="0"/>
                      </a:rPr>
                      <m:t> −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𝑉</m:t>
                        </m:r>
                      </m:e>
                      <m:sup>
                        <m:r>
                          <a:rPr lang="en-US" b="0" i="1" smtClean="0">
                            <a:latin typeface="Cambria Math" panose="02040503050406030204" pitchFamily="18" charset="0"/>
                            <a:ea typeface="Cambria Math" panose="02040503050406030204" pitchFamily="18" charset="0"/>
                          </a:rPr>
                          <m:t>𝜋</m:t>
                        </m:r>
                      </m:sup>
                    </m:sSup>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oMath>
                </a14:m>
                <a:endParaRPr lang="en-US" dirty="0"/>
              </a:p>
              <a:p>
                <a14:m>
                  <m:oMath xmlns:m="http://schemas.openxmlformats.org/officeDocument/2006/math">
                    <m:r>
                      <a:rPr lang="en-US" i="1" smtClean="0">
                        <a:latin typeface="Cambria Math" panose="02040503050406030204" pitchFamily="18" charset="0"/>
                        <a:ea typeface="Cambria Math" panose="02040503050406030204" pitchFamily="18" charset="0"/>
                      </a:rPr>
                      <m:t>𝛼</m:t>
                    </m:r>
                  </m:oMath>
                </a14:m>
                <a:r>
                  <a:rPr lang="en-US" dirty="0"/>
                  <a:t> is our learning rate, and </a:t>
                </a:r>
                <a14:m>
                  <m:oMath xmlns:m="http://schemas.openxmlformats.org/officeDocument/2006/math">
                    <m:r>
                      <a:rPr lang="en-US" b="0" i="1" smtClean="0">
                        <a:latin typeface="Cambria Math" panose="02040503050406030204" pitchFamily="18" charset="0"/>
                      </a:rPr>
                      <m:t>𝑠𝑎𝑚𝑝𝑙𝑒</m:t>
                    </m:r>
                    <m:r>
                      <a:rPr lang="en-US" b="0" i="1" smtClean="0">
                        <a:latin typeface="Cambria Math" panose="02040503050406030204" pitchFamily="18" charset="0"/>
                      </a:rPr>
                      <m:t> −</m:t>
                    </m:r>
                    <m:r>
                      <a:rPr lang="en-US" b="0" i="1" smtClean="0">
                        <a:latin typeface="Cambria Math" panose="02040503050406030204" pitchFamily="18" charset="0"/>
                      </a:rPr>
                      <m:t>𝑉</m:t>
                    </m:r>
                    <m:r>
                      <a:rPr lang="en-US" b="0" i="1" smtClean="0">
                        <a:latin typeface="Cambria Math" panose="02040503050406030204" pitchFamily="18" charset="0"/>
                        <a:ea typeface="Cambria Math" panose="02040503050406030204" pitchFamily="18" charset="0"/>
                      </a:rPr>
                      <m:t>𝜋</m:t>
                    </m:r>
                    <m:r>
                      <a:rPr lang="en-US" b="0" i="0" smtClean="0">
                        <a:latin typeface="Cambria Math" panose="02040503050406030204" pitchFamily="18" charset="0"/>
                        <a:ea typeface="Cambria Math" panose="02040503050406030204" pitchFamily="18" charset="0"/>
                      </a:rPr>
                      <m:t>(</m:t>
                    </m:r>
                    <m:r>
                      <m:rPr>
                        <m:sty m:val="p"/>
                      </m:rPr>
                      <a:rPr lang="en-US" b="0" i="0" smtClean="0">
                        <a:latin typeface="Cambria Math" panose="02040503050406030204" pitchFamily="18" charset="0"/>
                        <a:ea typeface="Cambria Math" panose="02040503050406030204" pitchFamily="18" charset="0"/>
                      </a:rPr>
                      <m:t>s</m:t>
                    </m:r>
                    <m:r>
                      <a:rPr lang="en-US" b="0" i="0" smtClean="0">
                        <a:latin typeface="Cambria Math" panose="02040503050406030204" pitchFamily="18" charset="0"/>
                        <a:ea typeface="Cambria Math" panose="02040503050406030204" pitchFamily="18" charset="0"/>
                      </a:rPr>
                      <m:t>)</m:t>
                    </m:r>
                  </m:oMath>
                </a14:m>
                <a:r>
                  <a:rPr lang="en-US" dirty="0"/>
                  <a:t> is our temporal difference</a:t>
                </a:r>
              </a:p>
            </p:txBody>
          </p:sp>
        </mc:Choice>
        <mc:Fallback xmlns="">
          <p:sp>
            <p:nvSpPr>
              <p:cNvPr id="3" name="Content Placeholder 2">
                <a:extLst>
                  <a:ext uri="{FF2B5EF4-FFF2-40B4-BE49-F238E27FC236}">
                    <a16:creationId xmlns:a16="http://schemas.microsoft.com/office/drawing/2014/main" id="{0EF99A50-4AF2-134D-1445-9D6F9101C072}"/>
                  </a:ext>
                </a:extLst>
              </p:cNvPr>
              <p:cNvSpPr>
                <a:spLocks noGrp="1" noRot="1" noChangeAspect="1" noMove="1" noResize="1" noEditPoints="1" noAdjustHandles="1" noChangeArrowheads="1" noChangeShapeType="1" noTextEdit="1"/>
              </p:cNvSpPr>
              <p:nvPr>
                <p:ph idx="1"/>
              </p:nvPr>
            </p:nvSpPr>
            <p:spPr>
              <a:blipFill>
                <a:blip r:embed="rId2"/>
                <a:stretch>
                  <a:fillRect l="-1086" t="-2326" r="-241" b="-291"/>
                </a:stretch>
              </a:blipFill>
            </p:spPr>
            <p:txBody>
              <a:bodyPr/>
              <a:lstStyle/>
              <a:p>
                <a:r>
                  <a:rPr lang="en-US">
                    <a:noFill/>
                  </a:rPr>
                  <a:t> </a:t>
                </a:r>
              </a:p>
            </p:txBody>
          </p:sp>
        </mc:Fallback>
      </mc:AlternateContent>
    </p:spTree>
    <p:extLst>
      <p:ext uri="{BB962C8B-B14F-4D97-AF65-F5344CB8AC3E}">
        <p14:creationId xmlns:p14="http://schemas.microsoft.com/office/powerpoint/2010/main" val="30322394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0BFFD-1ACA-D9A1-AA56-264687BEDA50}"/>
              </a:ext>
            </a:extLst>
          </p:cNvPr>
          <p:cNvSpPr>
            <a:spLocks noGrp="1"/>
          </p:cNvSpPr>
          <p:nvPr>
            <p:ph type="title"/>
          </p:nvPr>
        </p:nvSpPr>
        <p:spPr/>
        <p:txBody>
          <a:bodyPr/>
          <a:lstStyle/>
          <a:p>
            <a:r>
              <a:rPr lang="en-US" dirty="0"/>
              <a:t>Q-Learning</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49A6E641-EBC1-4672-76D7-4A6F16819114}"/>
                  </a:ext>
                </a:extLst>
              </p:cNvPr>
              <p:cNvSpPr>
                <a:spLocks noGrp="1"/>
              </p:cNvSpPr>
              <p:nvPr>
                <p:ph idx="1"/>
              </p:nvPr>
            </p:nvSpPr>
            <p:spPr/>
            <p:txBody>
              <a:bodyPr>
                <a:normAutofit fontScale="85000" lnSpcReduction="20000"/>
              </a:bodyPr>
              <a:lstStyle/>
              <a:p>
                <a:r>
                  <a:rPr lang="en-US" dirty="0"/>
                  <a:t>Directly learn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values </a:t>
                </a:r>
              </a:p>
              <a:p>
                <a:r>
                  <a:rPr lang="en-US" dirty="0"/>
                  <a:t>”Tabular” Q-learning is where you use tables to store this information </a:t>
                </a:r>
              </a:p>
              <a:p>
                <a:r>
                  <a:rPr lang="en-US" dirty="0"/>
                  <a:t>1 ) Select and execute a action</a:t>
                </a:r>
              </a:p>
              <a:p>
                <a:r>
                  <a:rPr lang="en-US" dirty="0"/>
                  <a:t>2 ) Observe </a:t>
                </a:r>
                <a14:m>
                  <m:oMath xmlns:m="http://schemas.openxmlformats.org/officeDocument/2006/math">
                    <m:r>
                      <a:rPr lang="en-US" b="0" i="1" smtClean="0">
                        <a:latin typeface="Cambria Math" panose="02040503050406030204" pitchFamily="18" charset="0"/>
                      </a:rPr>
                      <m:t>&lt;</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 </m:t>
                    </m:r>
                    <m:r>
                      <a:rPr lang="en-US" b="0" i="1" smtClean="0">
                        <a:latin typeface="Cambria Math" panose="02040503050406030204" pitchFamily="18" charset="0"/>
                      </a:rPr>
                      <m:t>𝑅</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&gt;</m:t>
                    </m:r>
                  </m:oMath>
                </a14:m>
                <a:endParaRPr lang="en-US" dirty="0"/>
              </a:p>
              <a:p>
                <a:r>
                  <a:rPr lang="en-US" dirty="0"/>
                  <a:t>3 ) Update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on exploration</a:t>
                </a:r>
              </a:p>
              <a:p>
                <a:pPr lvl="1"/>
                <a14:m>
                  <m:oMath xmlns:m="http://schemas.openxmlformats.org/officeDocument/2006/math">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m:t>
                    </m:r>
                    <m:r>
                      <a:rPr lang="en-US" b="0" i="1" smtClean="0">
                        <a:latin typeface="Cambria Math" panose="02040503050406030204" pitchFamily="18" charset="0"/>
                      </a:rPr>
                      <m:t>𝑄</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𝛼</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𝑅</m:t>
                        </m:r>
                        <m:d>
                          <m:dPr>
                            <m:ctrlPr>
                              <a:rPr lang="en-US" b="0" i="1" smtClean="0">
                                <a:latin typeface="Cambria Math" panose="02040503050406030204" pitchFamily="18" charset="0"/>
                                <a:ea typeface="Cambria Math" panose="02040503050406030204" pitchFamily="18" charset="0"/>
                              </a:rPr>
                            </m:ctrlPr>
                          </m:dPr>
                          <m:e>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𝑚𝑎𝑥</m:t>
                            </m:r>
                          </m:e>
                          <m:sub>
                            <m:r>
                              <a:rPr lang="en-US" b="0" i="1" smtClean="0">
                                <a:latin typeface="Cambria Math" panose="02040503050406030204" pitchFamily="18" charset="0"/>
                                <a:ea typeface="Cambria Math" panose="02040503050406030204" pitchFamily="18" charset="0"/>
                              </a:rPr>
                              <m:t>𝑎</m:t>
                            </m:r>
                          </m:sub>
                        </m:sSub>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𝑄</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𝑎</m:t>
                            </m:r>
                          </m:e>
                          <m:sup>
                            <m:r>
                              <a:rPr lang="en-US" b="0" i="1" smtClean="0">
                                <a:latin typeface="Cambria Math" panose="02040503050406030204" pitchFamily="18" charset="0"/>
                                <a:ea typeface="Cambria Math" panose="02040503050406030204" pitchFamily="18" charset="0"/>
                              </a:rPr>
                              <m:t>′</m:t>
                            </m:r>
                          </m:sup>
                        </m:sSup>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𝑄</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 ) </m:t>
                    </m:r>
                  </m:oMath>
                </a14:m>
                <a:endParaRPr lang="en-US" dirty="0"/>
              </a:p>
              <a:p>
                <a:r>
                  <a:rPr lang="en-US" dirty="0"/>
                  <a:t>4 ) Repeat </a:t>
                </a:r>
              </a:p>
              <a:p>
                <a:r>
                  <a:rPr lang="en-US" dirty="0"/>
                  <a:t>Train until stopping condition ( terminal state or number of steps ) </a:t>
                </a:r>
              </a:p>
              <a:p>
                <a:r>
                  <a:rPr lang="en-US" dirty="0"/>
                  <a:t>This is one episode, you learn for some # of episodes </a:t>
                </a:r>
              </a:p>
              <a:p>
                <a14:m>
                  <m:oMath xmlns:m="http://schemas.openxmlformats.org/officeDocument/2006/math">
                    <m:r>
                      <a:rPr lang="en-US"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𝑎𝑟𝑔𝑚𝑎𝑥</m:t>
                        </m:r>
                      </m:e>
                      <m:sub>
                        <m:r>
                          <a:rPr lang="en-US" b="0" i="1" smtClean="0">
                            <a:latin typeface="Cambria Math" panose="02040503050406030204" pitchFamily="18" charset="0"/>
                            <a:ea typeface="Cambria Math" panose="02040503050406030204" pitchFamily="18" charset="0"/>
                          </a:rPr>
                          <m:t>𝑎</m:t>
                        </m:r>
                      </m:sub>
                    </m:sSub>
                    <m:r>
                      <a:rPr lang="en-US" b="0" i="1" smtClean="0">
                        <a:latin typeface="Cambria Math" panose="02040503050406030204" pitchFamily="18" charset="0"/>
                        <a:ea typeface="Cambria Math" panose="02040503050406030204" pitchFamily="18" charset="0"/>
                      </a:rPr>
                      <m:t>𝑄</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oMath>
                </a14:m>
                <a:r>
                  <a:rPr lang="en-US" dirty="0"/>
                  <a:t> is your policy! </a:t>
                </a:r>
              </a:p>
              <a:p>
                <a:endParaRPr lang="en-US" dirty="0"/>
              </a:p>
              <a:p>
                <a:pPr marL="0" indent="0">
                  <a:buNone/>
                </a:pPr>
                <a:endParaRPr lang="en-US" dirty="0"/>
              </a:p>
            </p:txBody>
          </p:sp>
        </mc:Choice>
        <mc:Fallback>
          <p:sp>
            <p:nvSpPr>
              <p:cNvPr id="3" name="Content Placeholder 2">
                <a:extLst>
                  <a:ext uri="{FF2B5EF4-FFF2-40B4-BE49-F238E27FC236}">
                    <a16:creationId xmlns:a16="http://schemas.microsoft.com/office/drawing/2014/main" id="{49A6E641-EBC1-4672-76D7-4A6F16819114}"/>
                  </a:ext>
                </a:extLst>
              </p:cNvPr>
              <p:cNvSpPr>
                <a:spLocks noGrp="1" noRot="1" noChangeAspect="1" noMove="1" noResize="1" noEditPoints="1" noAdjustHandles="1" noChangeArrowheads="1" noChangeShapeType="1" noTextEdit="1"/>
              </p:cNvSpPr>
              <p:nvPr>
                <p:ph idx="1"/>
              </p:nvPr>
            </p:nvSpPr>
            <p:spPr>
              <a:blipFill>
                <a:blip r:embed="rId2"/>
                <a:stretch>
                  <a:fillRect l="-164" t="-1626" b="-2033"/>
                </a:stretch>
              </a:blipFill>
            </p:spPr>
            <p:txBody>
              <a:bodyPr/>
              <a:lstStyle/>
              <a:p>
                <a:r>
                  <a:rPr lang="en-US">
                    <a:noFill/>
                  </a:rPr>
                  <a:t> </a:t>
                </a:r>
              </a:p>
            </p:txBody>
          </p:sp>
        </mc:Fallback>
      </mc:AlternateContent>
    </p:spTree>
    <p:extLst>
      <p:ext uri="{BB962C8B-B14F-4D97-AF65-F5344CB8AC3E}">
        <p14:creationId xmlns:p14="http://schemas.microsoft.com/office/powerpoint/2010/main" val="26221383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771FE-2A86-90F6-7DB6-FE8E6644AF9D}"/>
              </a:ext>
            </a:extLst>
          </p:cNvPr>
          <p:cNvSpPr>
            <a:spLocks noGrp="1"/>
          </p:cNvSpPr>
          <p:nvPr>
            <p:ph type="title"/>
          </p:nvPr>
        </p:nvSpPr>
        <p:spPr/>
        <p:txBody>
          <a:bodyPr/>
          <a:lstStyle/>
          <a:p>
            <a:r>
              <a:rPr lang="en-US" dirty="0"/>
              <a:t>Q-Learning</a:t>
            </a:r>
          </a:p>
        </p:txBody>
      </p:sp>
      <p:sp>
        <p:nvSpPr>
          <p:cNvPr id="3" name="Content Placeholder 2">
            <a:extLst>
              <a:ext uri="{FF2B5EF4-FFF2-40B4-BE49-F238E27FC236}">
                <a16:creationId xmlns:a16="http://schemas.microsoft.com/office/drawing/2014/main" id="{3ED33C15-15AA-5780-D4CD-982E6F3CC139}"/>
              </a:ext>
            </a:extLst>
          </p:cNvPr>
          <p:cNvSpPr>
            <a:spLocks noGrp="1"/>
          </p:cNvSpPr>
          <p:nvPr>
            <p:ph idx="1"/>
          </p:nvPr>
        </p:nvSpPr>
        <p:spPr/>
        <p:txBody>
          <a:bodyPr/>
          <a:lstStyle/>
          <a:p>
            <a:r>
              <a:rPr lang="en-US" dirty="0"/>
              <a:t>How do we select our actions though? </a:t>
            </a:r>
          </a:p>
          <a:p>
            <a:r>
              <a:rPr lang="en-US" dirty="0"/>
              <a:t>Many selection policies such as e-greedy, Boltzmann, Thompson sampling, etc. </a:t>
            </a:r>
          </a:p>
          <a:p>
            <a:r>
              <a:rPr lang="en-US" dirty="0"/>
              <a:t>Most important thing is that we want our action selection policy to be Greedy in the Limit of Infinite Exploration</a:t>
            </a:r>
          </a:p>
          <a:p>
            <a:r>
              <a:rPr lang="en-US" dirty="0"/>
              <a:t>Basically, if we ran it forever it would eventually converge to the optimal policy </a:t>
            </a:r>
          </a:p>
        </p:txBody>
      </p:sp>
    </p:spTree>
    <p:extLst>
      <p:ext uri="{BB962C8B-B14F-4D97-AF65-F5344CB8AC3E}">
        <p14:creationId xmlns:p14="http://schemas.microsoft.com/office/powerpoint/2010/main" val="508052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10D3D-51A1-10E0-3E45-470629880398}"/>
              </a:ext>
            </a:extLst>
          </p:cNvPr>
          <p:cNvSpPr>
            <a:spLocks noGrp="1"/>
          </p:cNvSpPr>
          <p:nvPr>
            <p:ph type="title"/>
          </p:nvPr>
        </p:nvSpPr>
        <p:spPr/>
        <p:txBody>
          <a:bodyPr/>
          <a:lstStyle/>
          <a:p>
            <a:r>
              <a:rPr lang="en-US" dirty="0"/>
              <a:t>Q-Learnings Problem</a:t>
            </a:r>
          </a:p>
        </p:txBody>
      </p:sp>
      <p:sp>
        <p:nvSpPr>
          <p:cNvPr id="3" name="Content Placeholder 2">
            <a:extLst>
              <a:ext uri="{FF2B5EF4-FFF2-40B4-BE49-F238E27FC236}">
                <a16:creationId xmlns:a16="http://schemas.microsoft.com/office/drawing/2014/main" id="{2DB987D1-69B2-C8BA-E537-CCF28DE4C15E}"/>
              </a:ext>
            </a:extLst>
          </p:cNvPr>
          <p:cNvSpPr>
            <a:spLocks noGrp="1"/>
          </p:cNvSpPr>
          <p:nvPr>
            <p:ph idx="1"/>
          </p:nvPr>
        </p:nvSpPr>
        <p:spPr/>
        <p:txBody>
          <a:bodyPr/>
          <a:lstStyle/>
          <a:p>
            <a:r>
              <a:rPr lang="en-US" dirty="0"/>
              <a:t>Q-learning if </a:t>
            </a:r>
            <a:r>
              <a:rPr lang="en-US" b="1" i="1" dirty="0"/>
              <a:t>off-policy</a:t>
            </a:r>
          </a:p>
          <a:p>
            <a:r>
              <a:rPr lang="en-US" dirty="0"/>
              <a:t>Updates value estimate according to policy that is different from select policy </a:t>
            </a:r>
          </a:p>
          <a:p>
            <a:r>
              <a:rPr lang="en-US" dirty="0"/>
              <a:t>Agent can be reckless, because it doesn’t consider action selection randomness </a:t>
            </a:r>
          </a:p>
          <a:p>
            <a:r>
              <a:rPr lang="en-US" dirty="0"/>
              <a:t>This can hurt episode efficiency </a:t>
            </a:r>
          </a:p>
          <a:p>
            <a:r>
              <a:rPr lang="en-US" dirty="0"/>
              <a:t>If we can reason about what we might do more accurately, we can explore more of the state space early on</a:t>
            </a:r>
          </a:p>
          <a:p>
            <a:endParaRPr lang="en-US" dirty="0"/>
          </a:p>
        </p:txBody>
      </p:sp>
    </p:spTree>
    <p:extLst>
      <p:ext uri="{BB962C8B-B14F-4D97-AF65-F5344CB8AC3E}">
        <p14:creationId xmlns:p14="http://schemas.microsoft.com/office/powerpoint/2010/main" val="2584845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E8687-48A5-5598-AB46-B5837DC0B07B}"/>
              </a:ext>
            </a:extLst>
          </p:cNvPr>
          <p:cNvSpPr>
            <a:spLocks noGrp="1"/>
          </p:cNvSpPr>
          <p:nvPr>
            <p:ph type="title"/>
          </p:nvPr>
        </p:nvSpPr>
        <p:spPr/>
        <p:txBody>
          <a:bodyPr/>
          <a:lstStyle/>
          <a:p>
            <a:r>
              <a:rPr lang="en-US" dirty="0"/>
              <a:t>SARSA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1CDD371-51B4-E7C9-AA7A-C43657F02DB0}"/>
                  </a:ext>
                </a:extLst>
              </p:cNvPr>
              <p:cNvSpPr>
                <a:spLocks noGrp="1"/>
              </p:cNvSpPr>
              <p:nvPr>
                <p:ph idx="1"/>
              </p:nvPr>
            </p:nvSpPr>
            <p:spPr/>
            <p:txBody>
              <a:bodyPr/>
              <a:lstStyle/>
              <a:p>
                <a:r>
                  <a:rPr lang="en-US" dirty="0"/>
                  <a:t>The </a:t>
                </a:r>
                <a:r>
                  <a:rPr lang="en-US" b="1" i="1" dirty="0"/>
                  <a:t>on-policy</a:t>
                </a:r>
                <a:r>
                  <a:rPr lang="en-US" dirty="0"/>
                  <a:t> version of Q-learning </a:t>
                </a:r>
              </a:p>
              <a:p>
                <a:r>
                  <a:rPr lang="en-US" dirty="0"/>
                  <a:t>Old Update </a:t>
                </a:r>
              </a:p>
              <a:p>
                <a:pPr lvl="1"/>
                <a14:m>
                  <m:oMath xmlns:m="http://schemas.openxmlformats.org/officeDocument/2006/math">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𝛼</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𝑅</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𝑠</m:t>
                                </m:r>
                              </m:e>
                              <m:sup>
                                <m:r>
                                  <a:rPr lang="en-US" i="1">
                                    <a:latin typeface="Cambria Math" panose="02040503050406030204" pitchFamily="18" charset="0"/>
                                    <a:ea typeface="Cambria Math" panose="02040503050406030204" pitchFamily="18" charset="0"/>
                                  </a:rPr>
                                  <m:t>′</m:t>
                                </m:r>
                              </m:sup>
                            </m:sSup>
                          </m:e>
                        </m:d>
                        <m:r>
                          <a:rPr lang="en-US" i="1">
                            <a:latin typeface="Cambria Math" panose="02040503050406030204" pitchFamily="18" charset="0"/>
                            <a:ea typeface="Cambria Math" panose="02040503050406030204" pitchFamily="18" charset="0"/>
                          </a:rPr>
                          <m:t>+</m:t>
                        </m:r>
                        <m:sSub>
                          <m:sSubPr>
                            <m:ctrlPr>
                              <a:rPr lang="en-US" i="1" smtClean="0">
                                <a:solidFill>
                                  <a:srgbClr val="FF0000"/>
                                </a:solidFill>
                                <a:latin typeface="Cambria Math" panose="02040503050406030204" pitchFamily="18" charset="0"/>
                                <a:ea typeface="Cambria Math" panose="02040503050406030204" pitchFamily="18" charset="0"/>
                              </a:rPr>
                            </m:ctrlPr>
                          </m:sSubPr>
                          <m:e>
                            <m:r>
                              <a:rPr lang="en-US" i="1">
                                <a:solidFill>
                                  <a:srgbClr val="FF0000"/>
                                </a:solidFill>
                                <a:latin typeface="Cambria Math" panose="02040503050406030204" pitchFamily="18" charset="0"/>
                                <a:ea typeface="Cambria Math" panose="02040503050406030204" pitchFamily="18" charset="0"/>
                              </a:rPr>
                              <m:t>𝑚𝑎𝑥</m:t>
                            </m:r>
                          </m:e>
                          <m:sub>
                            <m:r>
                              <a:rPr lang="en-US" i="1">
                                <a:solidFill>
                                  <a:srgbClr val="FF0000"/>
                                </a:solidFill>
                                <a:latin typeface="Cambria Math" panose="02040503050406030204" pitchFamily="18" charset="0"/>
                                <a:ea typeface="Cambria Math" panose="02040503050406030204" pitchFamily="18" charset="0"/>
                              </a:rPr>
                              <m:t>𝑎</m:t>
                            </m:r>
                          </m:sub>
                        </m:sSub>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𝑄</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ea typeface="Cambria Math" panose="02040503050406030204" pitchFamily="18" charset="0"/>
                          </a:rPr>
                          <m:t>, </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𝑄</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r>
                      <a:rPr lang="en-US" i="1">
                        <a:latin typeface="Cambria Math" panose="02040503050406030204" pitchFamily="18" charset="0"/>
                        <a:ea typeface="Cambria Math" panose="02040503050406030204" pitchFamily="18" charset="0"/>
                      </a:rPr>
                      <m:t> )</m:t>
                    </m:r>
                  </m:oMath>
                </a14:m>
                <a:endParaRPr lang="en-US" i="1" dirty="0">
                  <a:latin typeface="Cambria Math" panose="02040503050406030204" pitchFamily="18" charset="0"/>
                  <a:ea typeface="Cambria Math" panose="02040503050406030204" pitchFamily="18" charset="0"/>
                </a:endParaRPr>
              </a:p>
              <a:p>
                <a:r>
                  <a:rPr lang="en-US" dirty="0">
                    <a:latin typeface="+mj-lt"/>
                    <a:ea typeface="Cambria Math" panose="02040503050406030204" pitchFamily="18" charset="0"/>
                  </a:rPr>
                  <a:t>New Update</a:t>
                </a:r>
              </a:p>
              <a:p>
                <a:pPr lvl="1"/>
                <a14:m>
                  <m:oMath xmlns:m="http://schemas.openxmlformats.org/officeDocument/2006/math">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𝛼</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𝑅</m:t>
                        </m:r>
                        <m:d>
                          <m:dPr>
                            <m:ctrlPr>
                              <a:rPr lang="en-US" i="1">
                                <a:latin typeface="Cambria Math" panose="02040503050406030204" pitchFamily="18" charset="0"/>
                                <a:ea typeface="Cambria Math" panose="02040503050406030204" pitchFamily="18" charset="0"/>
                              </a:rPr>
                            </m:ctrlPr>
                          </m:dPr>
                          <m:e>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𝑠</m:t>
                                </m:r>
                              </m:e>
                              <m:sup>
                                <m:r>
                                  <a:rPr lang="en-US" i="1">
                                    <a:latin typeface="Cambria Math" panose="02040503050406030204" pitchFamily="18" charset="0"/>
                                    <a:ea typeface="Cambria Math" panose="02040503050406030204" pitchFamily="18" charset="0"/>
                                  </a:rPr>
                                  <m:t>′</m:t>
                                </m:r>
                              </m:sup>
                            </m:sSup>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𝑄</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e>
                          <m:sup>
                            <m:r>
                              <a:rPr lang="en-US" i="1">
                                <a:latin typeface="Cambria Math" panose="02040503050406030204" pitchFamily="18" charset="0"/>
                                <a:ea typeface="Cambria Math" panose="02040503050406030204" pitchFamily="18" charset="0"/>
                              </a:rPr>
                              <m:t>′</m:t>
                            </m:r>
                          </m:sup>
                        </m:sSup>
                        <m:r>
                          <a:rPr lang="en-US" i="1">
                            <a:latin typeface="Cambria Math" panose="02040503050406030204" pitchFamily="18" charset="0"/>
                            <a:ea typeface="Cambria Math" panose="02040503050406030204" pitchFamily="18" charset="0"/>
                          </a:rPr>
                          <m:t>, </m:t>
                        </m:r>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𝑎</m:t>
                            </m:r>
                          </m:e>
                          <m:sup>
                            <m:r>
                              <a:rPr lang="en-US" i="1">
                                <a:latin typeface="Cambria Math" panose="02040503050406030204" pitchFamily="18" charset="0"/>
                                <a:ea typeface="Cambria Math" panose="02040503050406030204" pitchFamily="18" charset="0"/>
                              </a:rPr>
                              <m:t>′</m:t>
                            </m:r>
                          </m:sup>
                        </m:sSup>
                      </m:e>
                    </m:d>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𝑄</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r>
                      <a:rPr lang="en-US" i="1">
                        <a:latin typeface="Cambria Math" panose="02040503050406030204" pitchFamily="18" charset="0"/>
                        <a:ea typeface="Cambria Math" panose="02040503050406030204" pitchFamily="18" charset="0"/>
                      </a:rPr>
                      <m:t> ) </m:t>
                    </m:r>
                  </m:oMath>
                </a14:m>
                <a:endParaRPr lang="en-US" dirty="0"/>
              </a:p>
              <a:p>
                <a:pPr lvl="1"/>
                <a:r>
                  <a:rPr lang="en-US" dirty="0"/>
                  <a:t>Where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oMath>
                </a14:m>
                <a:r>
                  <a:rPr lang="en-US" dirty="0"/>
                  <a:t> is returned from the used action selection policy</a:t>
                </a:r>
              </a:p>
              <a:p>
                <a:endParaRPr lang="en-US" dirty="0"/>
              </a:p>
              <a:p>
                <a:pPr marL="0" indent="0">
                  <a:buNone/>
                </a:pPr>
                <a:endParaRPr lang="en-US" dirty="0"/>
              </a:p>
              <a:p>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71CDD371-51B4-E7C9-AA7A-C43657F02DB0}"/>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005381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E3132-8F69-81D0-D856-1BB07D1C73AB}"/>
              </a:ext>
            </a:extLst>
          </p:cNvPr>
          <p:cNvSpPr>
            <a:spLocks noGrp="1"/>
          </p:cNvSpPr>
          <p:nvPr>
            <p:ph type="title"/>
          </p:nvPr>
        </p:nvSpPr>
        <p:spPr/>
        <p:txBody>
          <a:bodyPr/>
          <a:lstStyle/>
          <a:p>
            <a:r>
              <a:rPr lang="en-US" dirty="0"/>
              <a:t>Deep Q</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10A90B5-3B72-AC44-A208-19E6344D7A88}"/>
                  </a:ext>
                </a:extLst>
              </p:cNvPr>
              <p:cNvSpPr>
                <a:spLocks noGrp="1"/>
              </p:cNvSpPr>
              <p:nvPr>
                <p:ph idx="1"/>
              </p:nvPr>
            </p:nvSpPr>
            <p:spPr/>
            <p:txBody>
              <a:bodyPr/>
              <a:lstStyle/>
              <a:p>
                <a:r>
                  <a:rPr lang="en-US" dirty="0"/>
                  <a:t>Tabular Q learning is great, but often not realistic due to large or continuous action and state spaces</a:t>
                </a:r>
              </a:p>
              <a:p>
                <a:r>
                  <a:rPr lang="en-US" dirty="0"/>
                  <a:t>We can instead use a neural network to predict our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values</a:t>
                </a:r>
              </a:p>
              <a:p>
                <a:r>
                  <a:rPr lang="en-US" dirty="0"/>
                  <a:t>What could this architecture look like? </a:t>
                </a:r>
              </a:p>
            </p:txBody>
          </p:sp>
        </mc:Choice>
        <mc:Fallback xmlns="">
          <p:sp>
            <p:nvSpPr>
              <p:cNvPr id="3" name="Content Placeholder 2">
                <a:extLst>
                  <a:ext uri="{FF2B5EF4-FFF2-40B4-BE49-F238E27FC236}">
                    <a16:creationId xmlns:a16="http://schemas.microsoft.com/office/drawing/2014/main" id="{510A90B5-3B72-AC44-A208-19E6344D7A88}"/>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1959563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32A80-6175-1164-2317-635EF72DF2B9}"/>
              </a:ext>
            </a:extLst>
          </p:cNvPr>
          <p:cNvSpPr>
            <a:spLocks noGrp="1"/>
          </p:cNvSpPr>
          <p:nvPr>
            <p:ph type="title"/>
          </p:nvPr>
        </p:nvSpPr>
        <p:spPr/>
        <p:txBody>
          <a:bodyPr/>
          <a:lstStyle/>
          <a:p>
            <a:r>
              <a:rPr lang="en-US" dirty="0"/>
              <a:t>Deep-Q Architecture 1</a:t>
            </a:r>
          </a:p>
        </p:txBody>
      </p:sp>
      <p:pic>
        <p:nvPicPr>
          <p:cNvPr id="5" name="Content Placeholder 4">
            <a:extLst>
              <a:ext uri="{FF2B5EF4-FFF2-40B4-BE49-F238E27FC236}">
                <a16:creationId xmlns:a16="http://schemas.microsoft.com/office/drawing/2014/main" id="{E64F0FBC-4CD2-0E27-BB87-0195E86B164C}"/>
              </a:ext>
            </a:extLst>
          </p:cNvPr>
          <p:cNvPicPr>
            <a:picLocks noGrp="1" noChangeAspect="1"/>
          </p:cNvPicPr>
          <p:nvPr>
            <p:ph idx="1"/>
          </p:nvPr>
        </p:nvPicPr>
        <p:blipFill>
          <a:blip r:embed="rId2"/>
          <a:stretch>
            <a:fillRect/>
          </a:stretch>
        </p:blipFill>
        <p:spPr>
          <a:xfrm>
            <a:off x="3338689" y="2638425"/>
            <a:ext cx="5514622" cy="3101975"/>
          </a:xfrm>
          <a:prstGeom prst="rect">
            <a:avLst/>
          </a:prstGeom>
        </p:spPr>
      </p:pic>
    </p:spTree>
    <p:extLst>
      <p:ext uri="{BB962C8B-B14F-4D97-AF65-F5344CB8AC3E}">
        <p14:creationId xmlns:p14="http://schemas.microsoft.com/office/powerpoint/2010/main" val="9073674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83CDA-BA91-9F4C-038F-DE38539E9CB8}"/>
              </a:ext>
            </a:extLst>
          </p:cNvPr>
          <p:cNvSpPr>
            <a:spLocks noGrp="1"/>
          </p:cNvSpPr>
          <p:nvPr>
            <p:ph type="title"/>
          </p:nvPr>
        </p:nvSpPr>
        <p:spPr/>
        <p:txBody>
          <a:bodyPr/>
          <a:lstStyle/>
          <a:p>
            <a:r>
              <a:rPr lang="en-US" dirty="0"/>
              <a:t>Deep-Q Architecture 2</a:t>
            </a:r>
          </a:p>
        </p:txBody>
      </p:sp>
      <p:pic>
        <p:nvPicPr>
          <p:cNvPr id="9" name="Content Placeholder 8">
            <a:extLst>
              <a:ext uri="{FF2B5EF4-FFF2-40B4-BE49-F238E27FC236}">
                <a16:creationId xmlns:a16="http://schemas.microsoft.com/office/drawing/2014/main" id="{A39AC9BF-534F-80D1-CF65-55F3BF8E1E8E}"/>
              </a:ext>
            </a:extLst>
          </p:cNvPr>
          <p:cNvPicPr>
            <a:picLocks noGrp="1" noChangeAspect="1"/>
          </p:cNvPicPr>
          <p:nvPr>
            <p:ph idx="1"/>
          </p:nvPr>
        </p:nvPicPr>
        <p:blipFill>
          <a:blip r:embed="rId2"/>
          <a:stretch>
            <a:fillRect/>
          </a:stretch>
        </p:blipFill>
        <p:spPr>
          <a:xfrm>
            <a:off x="3338689" y="2638425"/>
            <a:ext cx="5514622" cy="3101975"/>
          </a:xfrm>
          <a:prstGeom prst="rect">
            <a:avLst/>
          </a:prstGeom>
        </p:spPr>
      </p:pic>
    </p:spTree>
    <p:extLst>
      <p:ext uri="{BB962C8B-B14F-4D97-AF65-F5344CB8AC3E}">
        <p14:creationId xmlns:p14="http://schemas.microsoft.com/office/powerpoint/2010/main" val="11805335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537AF-B82D-2469-D389-CDDA64039720}"/>
              </a:ext>
            </a:extLst>
          </p:cNvPr>
          <p:cNvSpPr>
            <a:spLocks noGrp="1"/>
          </p:cNvSpPr>
          <p:nvPr>
            <p:ph type="title"/>
          </p:nvPr>
        </p:nvSpPr>
        <p:spPr/>
        <p:txBody>
          <a:bodyPr/>
          <a:lstStyle/>
          <a:p>
            <a:r>
              <a:rPr lang="en-US" dirty="0"/>
              <a:t>Deep-Q</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06EECB4-0BE7-6056-14CC-F1402A01A6FD}"/>
                  </a:ext>
                </a:extLst>
              </p:cNvPr>
              <p:cNvSpPr>
                <a:spLocks noGrp="1"/>
              </p:cNvSpPr>
              <p:nvPr>
                <p:ph idx="1"/>
              </p:nvPr>
            </p:nvSpPr>
            <p:spPr/>
            <p:txBody>
              <a:bodyPr>
                <a:normAutofit fontScale="92500" lnSpcReduction="10000"/>
              </a:bodyPr>
              <a:lstStyle/>
              <a:p>
                <a:r>
                  <a:rPr lang="en-US" dirty="0"/>
                  <a:t>We need a loss function, maybe can use reward but there is no guarantee that reward is differentiable</a:t>
                </a:r>
              </a:p>
              <a:p>
                <a:r>
                  <a:rPr lang="en-US" dirty="0"/>
                  <a:t> We need some notion of a prediction, and a target for our loss </a:t>
                </a:r>
              </a:p>
              <a:p>
                <a:r>
                  <a:rPr lang="en-US" dirty="0"/>
                  <a:t>Our prediction is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r>
                  <a:rPr lang="en-US" dirty="0"/>
                  <a:t> , our running estimate up until this point</a:t>
                </a:r>
              </a:p>
              <a:p>
                <a:r>
                  <a:rPr lang="en-US" dirty="0"/>
                  <a:t>Our target ends up being </a:t>
                </a:r>
                <a14:m>
                  <m:oMath xmlns:m="http://schemas.openxmlformats.org/officeDocument/2006/math">
                    <m:r>
                      <a:rPr lang="en-US" b="0" i="1" smtClean="0">
                        <a:latin typeface="Cambria Math" panose="02040503050406030204" pitchFamily="18" charset="0"/>
                      </a:rPr>
                      <m:t>𝑅</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𝛾</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𝑚𝑎𝑥</m:t>
                        </m:r>
                      </m:e>
                      <m:sub>
                        <m:r>
                          <a:rPr lang="en-US" b="0" i="1" smtClean="0">
                            <a:latin typeface="Cambria Math" panose="02040503050406030204" pitchFamily="18" charset="0"/>
                            <a:ea typeface="Cambria Math" panose="02040503050406030204" pitchFamily="18" charset="0"/>
                          </a:rPr>
                          <m:t>𝑎</m:t>
                        </m:r>
                      </m:sub>
                    </m:sSub>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𝑄</m:t>
                    </m:r>
                    <m:r>
                      <a:rPr lang="en-US" b="0" i="1" smtClean="0">
                        <a:latin typeface="Cambria Math" panose="02040503050406030204" pitchFamily="18" charset="0"/>
                        <a:ea typeface="Cambria Math" panose="02040503050406030204" pitchFamily="18" charset="0"/>
                      </a:rPr>
                      <m:t>(</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𝑠</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𝑎</m:t>
                        </m:r>
                      </m:e>
                      <m:sup>
                        <m:r>
                          <a:rPr lang="en-US" b="0" i="1" smtClean="0">
                            <a:latin typeface="Cambria Math" panose="02040503050406030204" pitchFamily="18" charset="0"/>
                            <a:ea typeface="Cambria Math" panose="02040503050406030204" pitchFamily="18" charset="0"/>
                          </a:rPr>
                          <m:t>′</m:t>
                        </m:r>
                      </m:sup>
                    </m:sSup>
                    <m:r>
                      <a:rPr lang="en-US" b="0" i="1" smtClean="0">
                        <a:latin typeface="Cambria Math" panose="02040503050406030204" pitchFamily="18" charset="0"/>
                        <a:ea typeface="Cambria Math" panose="02040503050406030204" pitchFamily="18" charset="0"/>
                      </a:rPr>
                      <m:t>)</m:t>
                    </m:r>
                  </m:oMath>
                </a14:m>
                <a:endParaRPr lang="en-US" dirty="0"/>
              </a:p>
              <a:p>
                <a:r>
                  <a:rPr lang="en-US" dirty="0"/>
                  <a:t>If we re-examine our old q-update we are already close to squared error </a:t>
                </a:r>
                <a:endParaRPr lang="en-US" i="1" dirty="0">
                  <a:latin typeface="Cambria Math" panose="02040503050406030204" pitchFamily="18" charset="0"/>
                </a:endParaRPr>
              </a:p>
              <a:p>
                <a:pPr lvl="1"/>
                <a14:m>
                  <m:oMath xmlns:m="http://schemas.openxmlformats.org/officeDocument/2006/math">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m:t>
                    </m:r>
                    <m:r>
                      <a:rPr lang="en-US" i="1">
                        <a:latin typeface="Cambria Math" panose="02040503050406030204" pitchFamily="18" charset="0"/>
                      </a:rPr>
                      <m:t>𝑄</m:t>
                    </m:r>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𝛼</m:t>
                    </m:r>
                    <m:d>
                      <m:dPr>
                        <m:ctrlPr>
                          <a:rPr lang="en-US" i="1" smtClean="0">
                            <a:solidFill>
                              <a:srgbClr val="00B050"/>
                            </a:solidFill>
                            <a:latin typeface="Cambria Math" panose="02040503050406030204" pitchFamily="18" charset="0"/>
                            <a:ea typeface="Cambria Math" panose="02040503050406030204" pitchFamily="18" charset="0"/>
                          </a:rPr>
                        </m:ctrlPr>
                      </m:dPr>
                      <m:e>
                        <m:r>
                          <a:rPr lang="en-US" i="1">
                            <a:solidFill>
                              <a:srgbClr val="00B050"/>
                            </a:solidFill>
                            <a:latin typeface="Cambria Math" panose="02040503050406030204" pitchFamily="18" charset="0"/>
                            <a:ea typeface="Cambria Math" panose="02040503050406030204" pitchFamily="18" charset="0"/>
                          </a:rPr>
                          <m:t> </m:t>
                        </m:r>
                        <m:r>
                          <a:rPr lang="en-US" i="1" smtClean="0">
                            <a:solidFill>
                              <a:srgbClr val="00B050"/>
                            </a:solidFill>
                            <a:latin typeface="Cambria Math" panose="02040503050406030204" pitchFamily="18" charset="0"/>
                            <a:ea typeface="Cambria Math" panose="02040503050406030204" pitchFamily="18" charset="0"/>
                          </a:rPr>
                          <m:t>𝑅</m:t>
                        </m:r>
                        <m:d>
                          <m:dPr>
                            <m:ctrlPr>
                              <a:rPr lang="en-US" i="1">
                                <a:solidFill>
                                  <a:srgbClr val="00B050"/>
                                </a:solidFill>
                                <a:latin typeface="Cambria Math" panose="02040503050406030204" pitchFamily="18" charset="0"/>
                                <a:ea typeface="Cambria Math" panose="02040503050406030204" pitchFamily="18" charset="0"/>
                              </a:rPr>
                            </m:ctrlPr>
                          </m:dPr>
                          <m:e>
                            <m:sSup>
                              <m:sSupPr>
                                <m:ctrlPr>
                                  <a:rPr lang="en-US" i="1">
                                    <a:solidFill>
                                      <a:srgbClr val="00B050"/>
                                    </a:solidFill>
                                    <a:latin typeface="Cambria Math" panose="02040503050406030204" pitchFamily="18" charset="0"/>
                                    <a:ea typeface="Cambria Math" panose="02040503050406030204" pitchFamily="18" charset="0"/>
                                  </a:rPr>
                                </m:ctrlPr>
                              </m:sSupPr>
                              <m:e>
                                <m:r>
                                  <a:rPr lang="en-US" i="1">
                                    <a:solidFill>
                                      <a:srgbClr val="00B050"/>
                                    </a:solidFill>
                                    <a:latin typeface="Cambria Math" panose="02040503050406030204" pitchFamily="18" charset="0"/>
                                    <a:ea typeface="Cambria Math" panose="02040503050406030204" pitchFamily="18" charset="0"/>
                                  </a:rPr>
                                  <m:t>𝑠</m:t>
                                </m:r>
                              </m:e>
                              <m:sup>
                                <m:r>
                                  <a:rPr lang="en-US" i="1">
                                    <a:solidFill>
                                      <a:srgbClr val="00B050"/>
                                    </a:solidFill>
                                    <a:latin typeface="Cambria Math" panose="02040503050406030204" pitchFamily="18" charset="0"/>
                                    <a:ea typeface="Cambria Math" panose="02040503050406030204" pitchFamily="18" charset="0"/>
                                  </a:rPr>
                                  <m:t>′</m:t>
                                </m:r>
                              </m:sup>
                            </m:sSup>
                          </m:e>
                        </m:d>
                        <m:r>
                          <a:rPr lang="en-US" i="1">
                            <a:solidFill>
                              <a:srgbClr val="00B050"/>
                            </a:solidFill>
                            <a:latin typeface="Cambria Math" panose="02040503050406030204" pitchFamily="18" charset="0"/>
                            <a:ea typeface="Cambria Math" panose="02040503050406030204" pitchFamily="18" charset="0"/>
                          </a:rPr>
                          <m:t>+</m:t>
                        </m:r>
                        <m:sSub>
                          <m:sSubPr>
                            <m:ctrlPr>
                              <a:rPr lang="en-US" i="1">
                                <a:solidFill>
                                  <a:srgbClr val="00B050"/>
                                </a:solidFill>
                                <a:latin typeface="Cambria Math" panose="02040503050406030204" pitchFamily="18" charset="0"/>
                                <a:ea typeface="Cambria Math" panose="02040503050406030204" pitchFamily="18" charset="0"/>
                              </a:rPr>
                            </m:ctrlPr>
                          </m:sSubPr>
                          <m:e>
                            <m:r>
                              <a:rPr lang="en-US" i="1">
                                <a:solidFill>
                                  <a:srgbClr val="00B050"/>
                                </a:solidFill>
                                <a:latin typeface="Cambria Math" panose="02040503050406030204" pitchFamily="18" charset="0"/>
                                <a:ea typeface="Cambria Math" panose="02040503050406030204" pitchFamily="18" charset="0"/>
                              </a:rPr>
                              <m:t>𝑚𝑎𝑥</m:t>
                            </m:r>
                          </m:e>
                          <m:sub>
                            <m:r>
                              <a:rPr lang="en-US" i="1">
                                <a:solidFill>
                                  <a:srgbClr val="00B050"/>
                                </a:solidFill>
                                <a:latin typeface="Cambria Math" panose="02040503050406030204" pitchFamily="18" charset="0"/>
                                <a:ea typeface="Cambria Math" panose="02040503050406030204" pitchFamily="18" charset="0"/>
                              </a:rPr>
                              <m:t>𝑎</m:t>
                            </m:r>
                          </m:sub>
                        </m:sSub>
                        <m:r>
                          <a:rPr lang="en-US" i="1">
                            <a:solidFill>
                              <a:srgbClr val="00B050"/>
                            </a:solidFill>
                            <a:latin typeface="Cambria Math" panose="02040503050406030204" pitchFamily="18" charset="0"/>
                            <a:ea typeface="Cambria Math" panose="02040503050406030204" pitchFamily="18" charset="0"/>
                          </a:rPr>
                          <m:t> </m:t>
                        </m:r>
                        <m:r>
                          <a:rPr lang="en-US" i="1" smtClean="0">
                            <a:solidFill>
                              <a:srgbClr val="00B050"/>
                            </a:solidFill>
                            <a:latin typeface="Cambria Math" panose="02040503050406030204" pitchFamily="18" charset="0"/>
                            <a:ea typeface="Cambria Math" panose="02040503050406030204" pitchFamily="18" charset="0"/>
                          </a:rPr>
                          <m:t>𝑄</m:t>
                        </m:r>
                        <m:sSup>
                          <m:sSupPr>
                            <m:ctrlPr>
                              <a:rPr lang="en-US" i="1">
                                <a:solidFill>
                                  <a:srgbClr val="00B050"/>
                                </a:solidFill>
                                <a:latin typeface="Cambria Math" panose="02040503050406030204" pitchFamily="18" charset="0"/>
                                <a:ea typeface="Cambria Math" panose="02040503050406030204" pitchFamily="18" charset="0"/>
                              </a:rPr>
                            </m:ctrlPr>
                          </m:sSupPr>
                          <m:e>
                            <m:r>
                              <a:rPr lang="en-US" i="1">
                                <a:solidFill>
                                  <a:srgbClr val="00B050"/>
                                </a:solidFill>
                                <a:latin typeface="Cambria Math" panose="02040503050406030204" pitchFamily="18" charset="0"/>
                                <a:ea typeface="Cambria Math" panose="02040503050406030204" pitchFamily="18" charset="0"/>
                              </a:rPr>
                              <m:t>(</m:t>
                            </m:r>
                            <m:r>
                              <a:rPr lang="en-US" i="1">
                                <a:solidFill>
                                  <a:srgbClr val="00B050"/>
                                </a:solidFill>
                                <a:latin typeface="Cambria Math" panose="02040503050406030204" pitchFamily="18" charset="0"/>
                                <a:ea typeface="Cambria Math" panose="02040503050406030204" pitchFamily="18" charset="0"/>
                              </a:rPr>
                              <m:t>𝑠</m:t>
                            </m:r>
                          </m:e>
                          <m:sup>
                            <m:r>
                              <a:rPr lang="en-US" i="1">
                                <a:solidFill>
                                  <a:srgbClr val="00B050"/>
                                </a:solidFill>
                                <a:latin typeface="Cambria Math" panose="02040503050406030204" pitchFamily="18" charset="0"/>
                                <a:ea typeface="Cambria Math" panose="02040503050406030204" pitchFamily="18" charset="0"/>
                              </a:rPr>
                              <m:t>′</m:t>
                            </m:r>
                          </m:sup>
                        </m:sSup>
                        <m:r>
                          <a:rPr lang="en-US" i="1">
                            <a:solidFill>
                              <a:srgbClr val="00B050"/>
                            </a:solidFill>
                            <a:latin typeface="Cambria Math" panose="02040503050406030204" pitchFamily="18" charset="0"/>
                            <a:ea typeface="Cambria Math" panose="02040503050406030204" pitchFamily="18" charset="0"/>
                          </a:rPr>
                          <m:t>, </m:t>
                        </m:r>
                        <m:sSup>
                          <m:sSupPr>
                            <m:ctrlPr>
                              <a:rPr lang="en-US" i="1">
                                <a:solidFill>
                                  <a:srgbClr val="00B050"/>
                                </a:solidFill>
                                <a:latin typeface="Cambria Math" panose="02040503050406030204" pitchFamily="18" charset="0"/>
                                <a:ea typeface="Cambria Math" panose="02040503050406030204" pitchFamily="18" charset="0"/>
                              </a:rPr>
                            </m:ctrlPr>
                          </m:sSupPr>
                          <m:e>
                            <m:r>
                              <a:rPr lang="en-US" i="1">
                                <a:solidFill>
                                  <a:srgbClr val="00B050"/>
                                </a:solidFill>
                                <a:latin typeface="Cambria Math" panose="02040503050406030204" pitchFamily="18" charset="0"/>
                                <a:ea typeface="Cambria Math" panose="02040503050406030204" pitchFamily="18" charset="0"/>
                              </a:rPr>
                              <m:t>𝑎</m:t>
                            </m:r>
                          </m:e>
                          <m:sup>
                            <m:r>
                              <a:rPr lang="en-US" i="1">
                                <a:solidFill>
                                  <a:srgbClr val="00B050"/>
                                </a:solidFill>
                                <a:latin typeface="Cambria Math" panose="02040503050406030204" pitchFamily="18" charset="0"/>
                                <a:ea typeface="Cambria Math" panose="02040503050406030204" pitchFamily="18" charset="0"/>
                              </a:rPr>
                              <m:t>′</m:t>
                            </m:r>
                          </m:sup>
                        </m:sSup>
                      </m:e>
                    </m:d>
                    <m:r>
                      <a:rPr lang="en-US" i="1">
                        <a:solidFill>
                          <a:srgbClr val="00B050"/>
                        </a:solidFill>
                        <a:latin typeface="Cambria Math" panose="02040503050406030204" pitchFamily="18" charset="0"/>
                        <a:ea typeface="Cambria Math" panose="02040503050406030204" pitchFamily="18" charset="0"/>
                      </a:rPr>
                      <m:t>−</m:t>
                    </m:r>
                    <m:r>
                      <a:rPr lang="en-US" i="1">
                        <a:solidFill>
                          <a:srgbClr val="00B050"/>
                        </a:solidFill>
                        <a:latin typeface="Cambria Math" panose="02040503050406030204" pitchFamily="18" charset="0"/>
                        <a:ea typeface="Cambria Math" panose="02040503050406030204" pitchFamily="18" charset="0"/>
                      </a:rPr>
                      <m:t>𝑄</m:t>
                    </m:r>
                    <m:d>
                      <m:dPr>
                        <m:ctrlPr>
                          <a:rPr lang="en-US" i="1">
                            <a:solidFill>
                              <a:srgbClr val="00B050"/>
                            </a:solidFill>
                            <a:latin typeface="Cambria Math" panose="02040503050406030204" pitchFamily="18" charset="0"/>
                            <a:ea typeface="Cambria Math" panose="02040503050406030204" pitchFamily="18" charset="0"/>
                          </a:rPr>
                        </m:ctrlPr>
                      </m:dPr>
                      <m:e>
                        <m:r>
                          <a:rPr lang="en-US" i="1">
                            <a:solidFill>
                              <a:srgbClr val="00B050"/>
                            </a:solidFill>
                            <a:latin typeface="Cambria Math" panose="02040503050406030204" pitchFamily="18" charset="0"/>
                            <a:ea typeface="Cambria Math" panose="02040503050406030204" pitchFamily="18" charset="0"/>
                          </a:rPr>
                          <m:t>𝑠</m:t>
                        </m:r>
                        <m:r>
                          <a:rPr lang="en-US" i="1">
                            <a:solidFill>
                              <a:srgbClr val="00B050"/>
                            </a:solidFill>
                            <a:latin typeface="Cambria Math" panose="02040503050406030204" pitchFamily="18" charset="0"/>
                            <a:ea typeface="Cambria Math" panose="02040503050406030204" pitchFamily="18" charset="0"/>
                          </a:rPr>
                          <m:t>,</m:t>
                        </m:r>
                        <m:r>
                          <a:rPr lang="en-US" i="1">
                            <a:solidFill>
                              <a:srgbClr val="00B050"/>
                            </a:solidFill>
                            <a:latin typeface="Cambria Math" panose="02040503050406030204" pitchFamily="18" charset="0"/>
                            <a:ea typeface="Cambria Math" panose="02040503050406030204" pitchFamily="18" charset="0"/>
                          </a:rPr>
                          <m:t>𝑎</m:t>
                        </m:r>
                      </m:e>
                    </m:d>
                    <m:r>
                      <a:rPr lang="en-US" i="1">
                        <a:solidFill>
                          <a:srgbClr val="00B050"/>
                        </a:solidFill>
                        <a:latin typeface="Cambria Math" panose="02040503050406030204" pitchFamily="18" charset="0"/>
                        <a:ea typeface="Cambria Math" panose="02040503050406030204" pitchFamily="18" charset="0"/>
                      </a:rPr>
                      <m:t> )</m:t>
                    </m:r>
                  </m:oMath>
                </a14:m>
                <a:endParaRPr lang="en-US" i="1" dirty="0">
                  <a:solidFill>
                    <a:schemeClr val="tx1"/>
                  </a:solidFill>
                  <a:latin typeface="Cambria Math" panose="02040503050406030204" pitchFamily="18" charset="0"/>
                  <a:ea typeface="Cambria Math" panose="02040503050406030204" pitchFamily="18" charset="0"/>
                </a:endParaRPr>
              </a:p>
              <a:p>
                <a:pPr lvl="1"/>
                <a:r>
                  <a:rPr lang="en-US" dirty="0">
                    <a:latin typeface="+mj-lt"/>
                    <a:ea typeface="Cambria Math" panose="02040503050406030204" pitchFamily="18" charset="0"/>
                  </a:rPr>
                  <a:t>Loss is</a:t>
                </a:r>
                <a14:m>
                  <m:oMath xmlns:m="http://schemas.openxmlformats.org/officeDocument/2006/math">
                    <m:r>
                      <a:rPr lang="en-US" b="0" i="0"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d>
                          <m:dPr>
                            <m:ctrlPr>
                              <a:rPr lang="en-US" i="1" smtClean="0">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𝑅</m:t>
                            </m:r>
                            <m:d>
                              <m:dPr>
                                <m:ctrlPr>
                                  <a:rPr lang="en-US" i="1">
                                    <a:solidFill>
                                      <a:schemeClr val="tx1"/>
                                    </a:solidFill>
                                    <a:latin typeface="Cambria Math" panose="02040503050406030204" pitchFamily="18" charset="0"/>
                                    <a:ea typeface="Cambria Math" panose="02040503050406030204" pitchFamily="18" charset="0"/>
                                  </a:rPr>
                                </m:ctrlPr>
                              </m:dPr>
                              <m:e>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𝑠</m:t>
                                    </m:r>
                                  </m:e>
                                  <m:sup>
                                    <m:r>
                                      <a:rPr lang="en-US" i="1">
                                        <a:solidFill>
                                          <a:schemeClr val="tx1"/>
                                        </a:solidFill>
                                        <a:latin typeface="Cambria Math" panose="02040503050406030204" pitchFamily="18" charset="0"/>
                                        <a:ea typeface="Cambria Math" panose="02040503050406030204" pitchFamily="18" charset="0"/>
                                      </a:rPr>
                                      <m:t>′</m:t>
                                    </m:r>
                                  </m:sup>
                                </m:sSup>
                              </m:e>
                            </m:d>
                            <m:r>
                              <a:rPr lang="en-US" i="1">
                                <a:solidFill>
                                  <a:schemeClr val="tx1"/>
                                </a:solidFill>
                                <a:latin typeface="Cambria Math" panose="02040503050406030204" pitchFamily="18" charset="0"/>
                                <a:ea typeface="Cambria Math" panose="02040503050406030204" pitchFamily="18" charset="0"/>
                              </a:rPr>
                              <m:t>+</m:t>
                            </m:r>
                            <m:sSub>
                              <m:sSubPr>
                                <m:ctrlPr>
                                  <a:rPr lang="en-US" i="1">
                                    <a:solidFill>
                                      <a:schemeClr val="tx1"/>
                                    </a:solidFill>
                                    <a:latin typeface="Cambria Math" panose="02040503050406030204" pitchFamily="18" charset="0"/>
                                    <a:ea typeface="Cambria Math" panose="02040503050406030204" pitchFamily="18" charset="0"/>
                                  </a:rPr>
                                </m:ctrlPr>
                              </m:sSubPr>
                              <m:e>
                                <m:r>
                                  <a:rPr lang="en-US" i="1">
                                    <a:solidFill>
                                      <a:schemeClr val="tx1"/>
                                    </a:solidFill>
                                    <a:latin typeface="Cambria Math" panose="02040503050406030204" pitchFamily="18" charset="0"/>
                                    <a:ea typeface="Cambria Math" panose="02040503050406030204" pitchFamily="18" charset="0"/>
                                  </a:rPr>
                                  <m:t>𝑚𝑎𝑥</m:t>
                                </m:r>
                              </m:e>
                              <m:sub>
                                <m:r>
                                  <a:rPr lang="en-US" i="1">
                                    <a:solidFill>
                                      <a:schemeClr val="tx1"/>
                                    </a:solidFill>
                                    <a:latin typeface="Cambria Math" panose="02040503050406030204" pitchFamily="18" charset="0"/>
                                    <a:ea typeface="Cambria Math" panose="02040503050406030204" pitchFamily="18" charset="0"/>
                                  </a:rPr>
                                  <m:t>𝑎</m:t>
                                </m:r>
                              </m:sub>
                            </m:sSub>
                            <m:r>
                              <a:rPr lang="en-US" i="1">
                                <a:solidFill>
                                  <a:schemeClr val="tx1"/>
                                </a:solidFill>
                                <a:latin typeface="Cambria Math" panose="02040503050406030204" pitchFamily="18" charset="0"/>
                                <a:ea typeface="Cambria Math" panose="02040503050406030204" pitchFamily="18" charset="0"/>
                              </a:rPr>
                              <m:t> </m:t>
                            </m:r>
                            <m:r>
                              <a:rPr lang="en-US" i="1">
                                <a:solidFill>
                                  <a:schemeClr val="tx1"/>
                                </a:solidFill>
                                <a:latin typeface="Cambria Math" panose="02040503050406030204" pitchFamily="18" charset="0"/>
                                <a:ea typeface="Cambria Math" panose="02040503050406030204" pitchFamily="18" charset="0"/>
                              </a:rPr>
                              <m:t>𝑄</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𝑠</m:t>
                                </m:r>
                              </m:e>
                              <m:sup>
                                <m:r>
                                  <a:rPr lang="en-US" i="1">
                                    <a:solidFill>
                                      <a:schemeClr val="tx1"/>
                                    </a:solidFill>
                                    <a:latin typeface="Cambria Math" panose="02040503050406030204" pitchFamily="18" charset="0"/>
                                    <a:ea typeface="Cambria Math" panose="02040503050406030204" pitchFamily="18" charset="0"/>
                                  </a:rPr>
                                  <m:t>′</m:t>
                                </m:r>
                              </m:sup>
                            </m:sSup>
                            <m:r>
                              <a:rPr lang="en-US" i="1">
                                <a:solidFill>
                                  <a:schemeClr val="tx1"/>
                                </a:solidFill>
                                <a:latin typeface="Cambria Math" panose="02040503050406030204" pitchFamily="18" charset="0"/>
                                <a:ea typeface="Cambria Math" panose="02040503050406030204" pitchFamily="18" charset="0"/>
                              </a:rPr>
                              <m:t>, </m:t>
                            </m:r>
                            <m:sSup>
                              <m:sSupPr>
                                <m:ctrlPr>
                                  <a:rPr lang="en-US" i="1">
                                    <a:solidFill>
                                      <a:schemeClr val="tx1"/>
                                    </a:solidFill>
                                    <a:latin typeface="Cambria Math" panose="02040503050406030204" pitchFamily="18" charset="0"/>
                                    <a:ea typeface="Cambria Math" panose="02040503050406030204" pitchFamily="18" charset="0"/>
                                  </a:rPr>
                                </m:ctrlPr>
                              </m:sSupPr>
                              <m:e>
                                <m:r>
                                  <a:rPr lang="en-US" i="1">
                                    <a:solidFill>
                                      <a:schemeClr val="tx1"/>
                                    </a:solidFill>
                                    <a:latin typeface="Cambria Math" panose="02040503050406030204" pitchFamily="18" charset="0"/>
                                    <a:ea typeface="Cambria Math" panose="02040503050406030204" pitchFamily="18" charset="0"/>
                                  </a:rPr>
                                  <m:t>𝑎</m:t>
                                </m:r>
                              </m:e>
                              <m:sup>
                                <m:r>
                                  <a:rPr lang="en-US" i="1">
                                    <a:solidFill>
                                      <a:schemeClr val="tx1"/>
                                    </a:solidFill>
                                    <a:latin typeface="Cambria Math" panose="02040503050406030204" pitchFamily="18" charset="0"/>
                                    <a:ea typeface="Cambria Math" panose="02040503050406030204" pitchFamily="18" charset="0"/>
                                  </a:rPr>
                                  <m:t>′</m:t>
                                </m:r>
                              </m:sup>
                            </m:sSup>
                          </m:e>
                        </m:d>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𝑄</m:t>
                        </m:r>
                        <m:d>
                          <m:dPr>
                            <m:ctrlPr>
                              <a:rPr lang="en-US" i="1">
                                <a:solidFill>
                                  <a:schemeClr val="tx1"/>
                                </a:solidFill>
                                <a:latin typeface="Cambria Math" panose="02040503050406030204" pitchFamily="18" charset="0"/>
                                <a:ea typeface="Cambria Math" panose="02040503050406030204" pitchFamily="18" charset="0"/>
                              </a:rPr>
                            </m:ctrlPr>
                          </m:dPr>
                          <m:e>
                            <m:r>
                              <a:rPr lang="en-US" i="1">
                                <a:solidFill>
                                  <a:schemeClr val="tx1"/>
                                </a:solidFill>
                                <a:latin typeface="Cambria Math" panose="02040503050406030204" pitchFamily="18" charset="0"/>
                                <a:ea typeface="Cambria Math" panose="02040503050406030204" pitchFamily="18" charset="0"/>
                              </a:rPr>
                              <m:t>𝑠</m:t>
                            </m:r>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𝑎</m:t>
                            </m:r>
                          </m:e>
                        </m:d>
                        <m:r>
                          <a:rPr lang="en-US" i="1">
                            <a:solidFill>
                              <a:schemeClr val="tx1"/>
                            </a:solidFill>
                            <a:latin typeface="Cambria Math" panose="02040503050406030204" pitchFamily="18" charset="0"/>
                            <a:ea typeface="Cambria Math" panose="02040503050406030204" pitchFamily="18" charset="0"/>
                          </a:rPr>
                          <m:t> )</m:t>
                        </m:r>
                        <m:r>
                          <m:rPr>
                            <m:nor/>
                          </m:rPr>
                          <a:rPr lang="en-US" i="1" dirty="0">
                            <a:solidFill>
                              <a:schemeClr val="tx1"/>
                            </a:solidFill>
                            <a:latin typeface="Cambria Math" panose="02040503050406030204" pitchFamily="18" charset="0"/>
                            <a:ea typeface="Cambria Math" panose="02040503050406030204" pitchFamily="18" charset="0"/>
                          </a:rPr>
                          <m:t> </m:t>
                        </m:r>
                      </m:e>
                      <m:sup>
                        <m:r>
                          <a:rPr lang="en-US" b="0" i="1" smtClean="0">
                            <a:latin typeface="Cambria Math" panose="02040503050406030204" pitchFamily="18" charset="0"/>
                            <a:ea typeface="Cambria Math" panose="02040503050406030204" pitchFamily="18" charset="0"/>
                          </a:rPr>
                          <m:t>2</m:t>
                        </m:r>
                      </m:sup>
                    </m:sSup>
                  </m:oMath>
                </a14:m>
                <a:endParaRPr lang="en-US" dirty="0">
                  <a:solidFill>
                    <a:schemeClr val="tx1"/>
                  </a:solidFill>
                  <a:latin typeface="+mj-lt"/>
                  <a:ea typeface="Cambria Math" panose="02040503050406030204" pitchFamily="18" charset="0"/>
                </a:endParaRPr>
              </a:p>
              <a:p>
                <a:r>
                  <a:rPr lang="en-US" dirty="0">
                    <a:latin typeface="+mj-lt"/>
                    <a:ea typeface="Cambria Math" panose="02040503050406030204" pitchFamily="18" charset="0"/>
                  </a:rPr>
                  <a:t>TD function is essentially squared error </a:t>
                </a:r>
              </a:p>
              <a:p>
                <a:endParaRPr lang="en-US" dirty="0">
                  <a:solidFill>
                    <a:schemeClr val="tx1"/>
                  </a:solidFill>
                  <a:latin typeface="+mj-lt"/>
                  <a:ea typeface="Cambria Math" panose="02040503050406030204" pitchFamily="18" charset="0"/>
                </a:endParaRPr>
              </a:p>
              <a:p>
                <a:endParaRPr lang="en-US" dirty="0"/>
              </a:p>
              <a:p>
                <a:endParaRPr lang="en-US" dirty="0"/>
              </a:p>
            </p:txBody>
          </p:sp>
        </mc:Choice>
        <mc:Fallback>
          <p:sp>
            <p:nvSpPr>
              <p:cNvPr id="3" name="Content Placeholder 2">
                <a:extLst>
                  <a:ext uri="{FF2B5EF4-FFF2-40B4-BE49-F238E27FC236}">
                    <a16:creationId xmlns:a16="http://schemas.microsoft.com/office/drawing/2014/main" id="{F06EECB4-0BE7-6056-14CC-F1402A01A6FD}"/>
                  </a:ext>
                </a:extLst>
              </p:cNvPr>
              <p:cNvSpPr>
                <a:spLocks noGrp="1" noRot="1" noChangeAspect="1" noMove="1" noResize="1" noEditPoints="1" noAdjustHandles="1" noChangeArrowheads="1" noChangeShapeType="1" noTextEdit="1"/>
              </p:cNvSpPr>
              <p:nvPr>
                <p:ph idx="1"/>
              </p:nvPr>
            </p:nvSpPr>
            <p:spPr>
              <a:blipFill>
                <a:blip r:embed="rId3"/>
                <a:stretch>
                  <a:fillRect l="-328" t="-1220" b="-813"/>
                </a:stretch>
              </a:blipFill>
            </p:spPr>
            <p:txBody>
              <a:bodyPr/>
              <a:lstStyle/>
              <a:p>
                <a:r>
                  <a:rPr lang="en-US">
                    <a:noFill/>
                  </a:rPr>
                  <a:t> </a:t>
                </a:r>
              </a:p>
            </p:txBody>
          </p:sp>
        </mc:Fallback>
      </mc:AlternateContent>
    </p:spTree>
    <p:extLst>
      <p:ext uri="{BB962C8B-B14F-4D97-AF65-F5344CB8AC3E}">
        <p14:creationId xmlns:p14="http://schemas.microsoft.com/office/powerpoint/2010/main" val="14565642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66107-44F0-C8A2-05CF-846B1661C714}"/>
              </a:ext>
            </a:extLst>
          </p:cNvPr>
          <p:cNvSpPr>
            <a:spLocks noGrp="1"/>
          </p:cNvSpPr>
          <p:nvPr>
            <p:ph type="title"/>
          </p:nvPr>
        </p:nvSpPr>
        <p:spPr/>
        <p:txBody>
          <a:bodyPr/>
          <a:lstStyle/>
          <a:p>
            <a:r>
              <a:rPr lang="en-US" dirty="0"/>
              <a:t>Deep-Q</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D6A0D301-9671-5669-08C1-317916330CFD}"/>
                  </a:ext>
                </a:extLst>
              </p:cNvPr>
              <p:cNvSpPr>
                <a:spLocks noGrp="1"/>
              </p:cNvSpPr>
              <p:nvPr>
                <p:ph idx="1"/>
              </p:nvPr>
            </p:nvSpPr>
            <p:spPr/>
            <p:txBody>
              <a:bodyPr>
                <a:normAutofit fontScale="92500" lnSpcReduction="10000"/>
              </a:bodyPr>
              <a:lstStyle/>
              <a:p>
                <a:r>
                  <a:rPr lang="en-US" dirty="0"/>
                  <a:t>Problem, we use the same network for target and predictions</a:t>
                </a:r>
              </a:p>
              <a:p>
                <a:r>
                  <a:rPr lang="en-US" dirty="0"/>
                  <a:t>We can use two neural networks to solve this issue</a:t>
                </a:r>
              </a:p>
              <a:p>
                <a:r>
                  <a:rPr lang="en-US" dirty="0"/>
                  <a:t>Target Network</a:t>
                </a:r>
              </a:p>
              <a:p>
                <a:pPr lvl="1"/>
                <a:r>
                  <a:rPr lang="en-US" dirty="0"/>
                  <a:t>Separate target network calculates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𝑚𝑎𝑥</m:t>
                        </m:r>
                      </m:e>
                      <m:sub>
                        <m:sSup>
                          <m:sSupPr>
                            <m:ctrlPr>
                              <a:rPr lang="en-US"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sub>
                    </m:sSub>
                  </m:oMath>
                </a14:m>
                <a:r>
                  <a:rPr lang="en-US" dirty="0"/>
                  <a:t>and </a:t>
                </a:r>
                <a14:m>
                  <m:oMath xmlns:m="http://schemas.openxmlformats.org/officeDocument/2006/math">
                    <m:r>
                      <a:rPr lang="en-US" b="0" i="1" smtClean="0">
                        <a:latin typeface="Cambria Math" panose="02040503050406030204" pitchFamily="18" charset="0"/>
                      </a:rPr>
                      <m:t>𝑄</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r>
                      <a:rPr lang="en-US" b="0" i="1" smtClean="0">
                        <a:latin typeface="Cambria Math" panose="02040503050406030204" pitchFamily="18" charset="0"/>
                      </a:rPr>
                      <m:t>)</m:t>
                    </m:r>
                  </m:oMath>
                </a14:m>
                <a:endParaRPr lang="en-US" dirty="0"/>
              </a:p>
              <a:p>
                <a:pPr lvl="1"/>
                <a:r>
                  <a:rPr lang="en-US" dirty="0"/>
                  <a:t>Initially target network is exact copy of Q-network</a:t>
                </a:r>
              </a:p>
              <a:p>
                <a:pPr lvl="1"/>
                <a:r>
                  <a:rPr lang="en-US" dirty="0"/>
                  <a:t>In training use Q-network to create predictions , and target network for target values </a:t>
                </a:r>
              </a:p>
              <a:p>
                <a:pPr lvl="1"/>
                <a:r>
                  <a:rPr lang="en-US" dirty="0"/>
                  <a:t>Only update the Q-network </a:t>
                </a:r>
              </a:p>
              <a:p>
                <a:pPr lvl="1"/>
                <a:r>
                  <a:rPr lang="en-US" dirty="0"/>
                  <a:t>Hard update : after some steps copy the Q-network into the target network again</a:t>
                </a:r>
              </a:p>
              <a:p>
                <a:pPr lvl="1"/>
                <a:r>
                  <a:rPr lang="en-US" dirty="0"/>
                  <a:t>Soft update : every time step set </a:t>
                </a:r>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𝑡𝑎𝑟𝑔𝑒𝑡</m:t>
                        </m:r>
                        <m:r>
                          <a:rPr lang="en-US" b="0" i="1" smtClean="0">
                            <a:latin typeface="Cambria Math" panose="02040503050406030204" pitchFamily="18" charset="0"/>
                          </a:rPr>
                          <m:t> </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rPr>
                          <m:t>𝑡𝑎𝑟𝑔𝑒𝑡</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1 − </m:t>
                        </m:r>
                        <m:r>
                          <a:rPr lang="en-US" b="0" i="1" smtClean="0">
                            <a:latin typeface="Cambria Math" panose="02040503050406030204" pitchFamily="18" charset="0"/>
                            <a:ea typeface="Cambria Math" panose="02040503050406030204" pitchFamily="18" charset="0"/>
                          </a:rPr>
                          <m:t>𝛼</m:t>
                        </m:r>
                      </m:e>
                    </m:d>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𝜙</m:t>
                        </m:r>
                      </m:e>
                      <m:sub>
                        <m:r>
                          <a:rPr lang="en-US" b="0" i="1" smtClean="0">
                            <a:latin typeface="Cambria Math" panose="02040503050406030204" pitchFamily="18" charset="0"/>
                            <a:ea typeface="Cambria Math" panose="02040503050406030204" pitchFamily="18" charset="0"/>
                          </a:rPr>
                          <m:t>𝑄</m:t>
                        </m:r>
                      </m:sub>
                    </m:sSub>
                  </m:oMath>
                </a14:m>
                <a:endParaRPr lang="en-US" dirty="0"/>
              </a:p>
              <a:p>
                <a:pPr lvl="1"/>
                <a:endParaRPr lang="en-US" dirty="0"/>
              </a:p>
              <a:p>
                <a:pPr lvl="1"/>
                <a:endParaRPr lang="en-US" dirty="0"/>
              </a:p>
            </p:txBody>
          </p:sp>
        </mc:Choice>
        <mc:Fallback>
          <p:sp>
            <p:nvSpPr>
              <p:cNvPr id="3" name="Content Placeholder 2">
                <a:extLst>
                  <a:ext uri="{FF2B5EF4-FFF2-40B4-BE49-F238E27FC236}">
                    <a16:creationId xmlns:a16="http://schemas.microsoft.com/office/drawing/2014/main" id="{D6A0D301-9671-5669-08C1-317916330CFD}"/>
                  </a:ext>
                </a:extLst>
              </p:cNvPr>
              <p:cNvSpPr>
                <a:spLocks noGrp="1" noRot="1" noChangeAspect="1" noMove="1" noResize="1" noEditPoints="1" noAdjustHandles="1" noChangeArrowheads="1" noChangeShapeType="1" noTextEdit="1"/>
              </p:cNvSpPr>
              <p:nvPr>
                <p:ph idx="1"/>
              </p:nvPr>
            </p:nvSpPr>
            <p:spPr>
              <a:blipFill>
                <a:blip r:embed="rId2"/>
                <a:stretch>
                  <a:fillRect l="-328" t="-1220" b="-407"/>
                </a:stretch>
              </a:blipFill>
            </p:spPr>
            <p:txBody>
              <a:bodyPr/>
              <a:lstStyle/>
              <a:p>
                <a:r>
                  <a:rPr lang="en-US">
                    <a:noFill/>
                  </a:rPr>
                  <a:t> </a:t>
                </a:r>
              </a:p>
            </p:txBody>
          </p:sp>
        </mc:Fallback>
      </mc:AlternateContent>
    </p:spTree>
    <p:extLst>
      <p:ext uri="{BB962C8B-B14F-4D97-AF65-F5344CB8AC3E}">
        <p14:creationId xmlns:p14="http://schemas.microsoft.com/office/powerpoint/2010/main" val="907390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DB12A7-23E5-8559-7669-64F19372469A}"/>
              </a:ext>
            </a:extLst>
          </p:cNvPr>
          <p:cNvSpPr>
            <a:spLocks noGrp="1"/>
          </p:cNvSpPr>
          <p:nvPr>
            <p:ph type="title"/>
          </p:nvPr>
        </p:nvSpPr>
        <p:spPr/>
        <p:txBody>
          <a:bodyPr/>
          <a:lstStyle/>
          <a:p>
            <a:r>
              <a:rPr lang="en-US" dirty="0"/>
              <a:t>Deep-Q</a:t>
            </a:r>
          </a:p>
        </p:txBody>
      </p:sp>
      <p:sp>
        <p:nvSpPr>
          <p:cNvPr id="3" name="Content Placeholder 2">
            <a:extLst>
              <a:ext uri="{FF2B5EF4-FFF2-40B4-BE49-F238E27FC236}">
                <a16:creationId xmlns:a16="http://schemas.microsoft.com/office/drawing/2014/main" id="{FE3383CF-A76B-B087-F858-8CD1B43CBC08}"/>
              </a:ext>
            </a:extLst>
          </p:cNvPr>
          <p:cNvSpPr>
            <a:spLocks noGrp="1"/>
          </p:cNvSpPr>
          <p:nvPr>
            <p:ph idx="1"/>
          </p:nvPr>
        </p:nvSpPr>
        <p:spPr/>
        <p:txBody>
          <a:bodyPr/>
          <a:lstStyle/>
          <a:p>
            <a:r>
              <a:rPr lang="en-US" dirty="0"/>
              <a:t>If we just pass in models, there is a correlation issue that leaves us prone to overfitting to our trajectories </a:t>
            </a:r>
          </a:p>
          <a:p>
            <a:r>
              <a:rPr lang="en-US" dirty="0"/>
              <a:t>Use experience replay buffer to get around this </a:t>
            </a:r>
          </a:p>
          <a:p>
            <a:r>
              <a:rPr lang="en-US" dirty="0"/>
              <a:t>1 ) Take action</a:t>
            </a:r>
          </a:p>
          <a:p>
            <a:r>
              <a:rPr lang="en-US" dirty="0"/>
              <a:t>2 ) Observe result </a:t>
            </a:r>
          </a:p>
          <a:p>
            <a:r>
              <a:rPr lang="en-US" dirty="0"/>
              <a:t>3 ) Add observation to replay</a:t>
            </a:r>
          </a:p>
          <a:p>
            <a:r>
              <a:rPr lang="en-US" dirty="0"/>
              <a:t>4 ) Sample batch from buffer and update according to batch</a:t>
            </a:r>
          </a:p>
          <a:p>
            <a:endParaRPr lang="en-US" dirty="0"/>
          </a:p>
        </p:txBody>
      </p:sp>
    </p:spTree>
    <p:extLst>
      <p:ext uri="{BB962C8B-B14F-4D97-AF65-F5344CB8AC3E}">
        <p14:creationId xmlns:p14="http://schemas.microsoft.com/office/powerpoint/2010/main" val="30965529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24852-57D9-458D-2370-59392F2FEDE3}"/>
              </a:ext>
            </a:extLst>
          </p:cNvPr>
          <p:cNvSpPr>
            <a:spLocks noGrp="1"/>
          </p:cNvSpPr>
          <p:nvPr>
            <p:ph type="title"/>
          </p:nvPr>
        </p:nvSpPr>
        <p:spPr/>
        <p:txBody>
          <a:bodyPr/>
          <a:lstStyle/>
          <a:p>
            <a:r>
              <a:rPr lang="en-US" dirty="0"/>
              <a:t>Policy Search</a:t>
            </a:r>
          </a:p>
        </p:txBody>
      </p:sp>
      <p:sp>
        <p:nvSpPr>
          <p:cNvPr id="3" name="Content Placeholder 2">
            <a:extLst>
              <a:ext uri="{FF2B5EF4-FFF2-40B4-BE49-F238E27FC236}">
                <a16:creationId xmlns:a16="http://schemas.microsoft.com/office/drawing/2014/main" id="{33250506-8988-4732-B787-68D698AA50B5}"/>
              </a:ext>
            </a:extLst>
          </p:cNvPr>
          <p:cNvSpPr>
            <a:spLocks noGrp="1"/>
          </p:cNvSpPr>
          <p:nvPr>
            <p:ph idx="1"/>
          </p:nvPr>
        </p:nvSpPr>
        <p:spPr/>
        <p:txBody>
          <a:bodyPr/>
          <a:lstStyle/>
          <a:p>
            <a:r>
              <a:rPr lang="en-US" dirty="0"/>
              <a:t>Upsides</a:t>
            </a:r>
          </a:p>
          <a:p>
            <a:pPr lvl="1"/>
            <a:r>
              <a:rPr lang="en-US" dirty="0"/>
              <a:t>Can use state features, not just state given in MDP to consider more information</a:t>
            </a:r>
          </a:p>
          <a:p>
            <a:pPr lvl="1"/>
            <a:r>
              <a:rPr lang="en-US" dirty="0"/>
              <a:t>Convergence is better </a:t>
            </a:r>
          </a:p>
          <a:p>
            <a:pPr lvl="1"/>
            <a:r>
              <a:rPr lang="en-US" dirty="0"/>
              <a:t>Does better in high dimensional spaces </a:t>
            </a:r>
          </a:p>
          <a:p>
            <a:pPr lvl="1"/>
            <a:r>
              <a:rPr lang="en-US" dirty="0"/>
              <a:t>Can learn stochastic policies</a:t>
            </a:r>
          </a:p>
          <a:p>
            <a:r>
              <a:rPr lang="en-US" dirty="0"/>
              <a:t>Downsides </a:t>
            </a:r>
          </a:p>
          <a:p>
            <a:pPr lvl="1"/>
            <a:r>
              <a:rPr lang="en-US" dirty="0"/>
              <a:t>Prone to converging to local optima</a:t>
            </a:r>
          </a:p>
          <a:p>
            <a:pPr lvl="1"/>
            <a:r>
              <a:rPr lang="en-US" dirty="0"/>
              <a:t>Evaluating a policy could have high variance </a:t>
            </a:r>
          </a:p>
          <a:p>
            <a:pPr marL="457200" lvl="1" indent="0">
              <a:buNone/>
            </a:pPr>
            <a:endParaRPr lang="en-US" dirty="0"/>
          </a:p>
          <a:p>
            <a:endParaRPr lang="en-US" dirty="0"/>
          </a:p>
        </p:txBody>
      </p:sp>
    </p:spTree>
    <p:extLst>
      <p:ext uri="{BB962C8B-B14F-4D97-AF65-F5344CB8AC3E}">
        <p14:creationId xmlns:p14="http://schemas.microsoft.com/office/powerpoint/2010/main" val="1394113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373C6-F025-78BB-0115-4C85362591AA}"/>
              </a:ext>
            </a:extLst>
          </p:cNvPr>
          <p:cNvSpPr>
            <a:spLocks noGrp="1"/>
          </p:cNvSpPr>
          <p:nvPr>
            <p:ph type="title"/>
          </p:nvPr>
        </p:nvSpPr>
        <p:spPr/>
        <p:txBody>
          <a:bodyPr/>
          <a:lstStyle/>
          <a:p>
            <a:r>
              <a:rPr lang="en-US" dirty="0"/>
              <a:t>Policy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816403-AF42-5A7B-4D40-9E6F59386928}"/>
                  </a:ext>
                </a:extLst>
              </p:cNvPr>
              <p:cNvSpPr>
                <a:spLocks noGrp="1"/>
              </p:cNvSpPr>
              <p:nvPr>
                <p:ph idx="1"/>
              </p:nvPr>
            </p:nvSpPr>
            <p:spPr/>
            <p:txBody>
              <a:bodyPr/>
              <a:lstStyle/>
              <a:p>
                <a14:m>
                  <m:oMath xmlns:m="http://schemas.openxmlformats.org/officeDocument/2006/math">
                    <m:r>
                      <a:rPr lang="en-US"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𝑃</m:t>
                    </m:r>
                    <m:d>
                      <m:dPr>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 </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oMath>
                </a14:m>
                <a:endParaRPr lang="en-US" dirty="0"/>
              </a:p>
              <a:p>
                <a:r>
                  <a:rPr lang="en-US" dirty="0"/>
                  <a:t>Another situation where policy search is helpful is when the environment is partially observable, can’t see ground truth state</a:t>
                </a:r>
              </a:p>
              <a:p>
                <a14:m>
                  <m:oMath xmlns:m="http://schemas.openxmlformats.org/officeDocument/2006/math">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𝜋</m:t>
                        </m:r>
                      </m:e>
                      <m:sub>
                        <m:r>
                          <a:rPr lang="en-US"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is our parametrized policy </a:t>
                </a:r>
              </a:p>
              <a:p>
                <a14:m>
                  <m:oMath xmlns:m="http://schemas.openxmlformats.org/officeDocument/2006/math">
                    <m:r>
                      <a:rPr lang="en-US" b="0" i="1" smtClean="0">
                        <a:latin typeface="Cambria Math" panose="02040503050406030204" pitchFamily="18" charset="0"/>
                      </a:rPr>
                      <m:t>𝐽</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dirty="0"/>
                  <a:t> is our optimization function </a:t>
                </a:r>
              </a:p>
              <a:p>
                <a:endParaRPr lang="en-US" dirty="0"/>
              </a:p>
            </p:txBody>
          </p:sp>
        </mc:Choice>
        <mc:Fallback xmlns="">
          <p:sp>
            <p:nvSpPr>
              <p:cNvPr id="3" name="Content Placeholder 2">
                <a:extLst>
                  <a:ext uri="{FF2B5EF4-FFF2-40B4-BE49-F238E27FC236}">
                    <a16:creationId xmlns:a16="http://schemas.microsoft.com/office/drawing/2014/main" id="{7E816403-AF42-5A7B-4D40-9E6F59386928}"/>
                  </a:ext>
                </a:extLst>
              </p:cNvPr>
              <p:cNvSpPr>
                <a:spLocks noGrp="1" noRot="1" noChangeAspect="1" noMove="1" noResize="1" noEditPoints="1" noAdjustHandles="1" noChangeArrowheads="1" noChangeShapeType="1" noTextEdit="1"/>
              </p:cNvSpPr>
              <p:nvPr>
                <p:ph idx="1"/>
              </p:nvPr>
            </p:nvSpPr>
            <p:spPr>
              <a:blipFill>
                <a:blip r:embed="rId2"/>
                <a:stretch>
                  <a:fillRect l="-1086" t="-1744"/>
                </a:stretch>
              </a:blipFill>
            </p:spPr>
            <p:txBody>
              <a:bodyPr/>
              <a:lstStyle/>
              <a:p>
                <a:r>
                  <a:rPr lang="en-US">
                    <a:noFill/>
                  </a:rPr>
                  <a:t> </a:t>
                </a:r>
              </a:p>
            </p:txBody>
          </p:sp>
        </mc:Fallback>
      </mc:AlternateContent>
    </p:spTree>
    <p:extLst>
      <p:ext uri="{BB962C8B-B14F-4D97-AF65-F5344CB8AC3E}">
        <p14:creationId xmlns:p14="http://schemas.microsoft.com/office/powerpoint/2010/main" val="37588097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DBBAA-F169-604F-84C9-ECC6903DC8BB}"/>
              </a:ext>
            </a:extLst>
          </p:cNvPr>
          <p:cNvSpPr>
            <a:spLocks noGrp="1"/>
          </p:cNvSpPr>
          <p:nvPr>
            <p:ph type="title"/>
          </p:nvPr>
        </p:nvSpPr>
        <p:spPr/>
        <p:txBody>
          <a:bodyPr/>
          <a:lstStyle/>
          <a:p>
            <a:r>
              <a:rPr lang="en-US" dirty="0"/>
              <a:t>Policy Search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BAA977-C415-1406-197A-4557CA117E5D}"/>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𝐸</m:t>
                        </m:r>
                      </m:e>
                      <m: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sub>
                    </m:sSub>
                    <m:r>
                      <a:rPr lang="en-US" b="0" i="1" smtClean="0">
                        <a:latin typeface="Cambria Math" panose="02040503050406030204" pitchFamily="18" charset="0"/>
                        <a:ea typeface="Cambria Math" panose="02040503050406030204" pitchFamily="18" charset="0"/>
                      </a:rPr>
                      <m:t>[</m:t>
                    </m:r>
                    <m:nary>
                      <m:naryPr>
                        <m:chr m:val="∑"/>
                        <m:subHide m:val="on"/>
                        <m:supHide m:val="on"/>
                        <m:ctrlPr>
                          <a:rPr lang="en-US" b="0" i="1" smtClean="0">
                            <a:latin typeface="Cambria Math" panose="02040503050406030204" pitchFamily="18" charset="0"/>
                            <a:ea typeface="Cambria Math" panose="02040503050406030204" pitchFamily="18" charset="0"/>
                          </a:rPr>
                        </m:ctrlPr>
                      </m:naryPr>
                      <m:sub/>
                      <m:sup/>
                      <m:e>
                        <m:r>
                          <a:rPr lang="en-US" b="0" i="1" smtClean="0">
                            <a:latin typeface="Cambria Math" panose="02040503050406030204" pitchFamily="18" charset="0"/>
                            <a:ea typeface="Cambria Math" panose="02040503050406030204" pitchFamily="18" charset="0"/>
                          </a:rPr>
                          <m:t>𝑟</m:t>
                        </m:r>
                      </m:e>
                    </m:nary>
                    <m:r>
                      <a:rPr lang="en-US" b="0" i="1" smtClean="0">
                        <a:latin typeface="Cambria Math" panose="02040503050406030204" pitchFamily="18" charset="0"/>
                        <a:ea typeface="Cambria Math" panose="02040503050406030204" pitchFamily="18" charset="0"/>
                      </a:rPr>
                      <m:t>]</m:t>
                    </m:r>
                  </m:oMath>
                </a14:m>
                <a:endParaRPr lang="en-US" dirty="0"/>
              </a:p>
              <a:p>
                <a:r>
                  <a:rPr lang="en-US" dirty="0"/>
                  <a:t>Above formula makes assumption we have one start state, generally safe for episodic problems </a:t>
                </a:r>
              </a:p>
              <a:p>
                <a:r>
                  <a:rPr lang="en-US" dirty="0"/>
                  <a:t>We can re-define this as expected reward with trajectory from start, long as MDP is finite </a:t>
                </a:r>
              </a:p>
              <a:p>
                <a14:m>
                  <m:oMath xmlns:m="http://schemas.openxmlformats.org/officeDocument/2006/math">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𝑆</m:t>
                        </m:r>
                      </m:sub>
                      <m:sup/>
                      <m:e>
                        <m:r>
                          <a:rPr lang="en-US" b="0" i="1" smtClean="0">
                            <a:latin typeface="Cambria Math" panose="02040503050406030204" pitchFamily="18" charset="0"/>
                            <a:ea typeface="Cambria Math" panose="02040503050406030204" pitchFamily="18" charset="0"/>
                          </a:rPr>
                          <m:t>𝑑</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e>
                        </m:d>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𝐴</m:t>
                            </m:r>
                          </m:sub>
                          <m:sup/>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e>
                            </m:d>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e>
                        </m:nary>
                      </m:e>
                    </m:nary>
                  </m:oMath>
                </a14:m>
                <a:endParaRPr lang="en-US" dirty="0"/>
              </a:p>
              <a:p>
                <a:r>
                  <a:rPr lang="en-US" dirty="0"/>
                  <a:t>Can generalize to continuous action and state spaces with integrals</a:t>
                </a:r>
              </a:p>
              <a:p>
                <a:pPr lvl="1"/>
                <a:r>
                  <a:rPr lang="en-US" dirty="0"/>
                  <a:t>Continuous states are pretty easy to work with, actions are harder</a:t>
                </a:r>
              </a:p>
            </p:txBody>
          </p:sp>
        </mc:Choice>
        <mc:Fallback xmlns="">
          <p:sp>
            <p:nvSpPr>
              <p:cNvPr id="3" name="Content Placeholder 2">
                <a:extLst>
                  <a:ext uri="{FF2B5EF4-FFF2-40B4-BE49-F238E27FC236}">
                    <a16:creationId xmlns:a16="http://schemas.microsoft.com/office/drawing/2014/main" id="{8ABAA977-C415-1406-197A-4557CA117E5D}"/>
                  </a:ext>
                </a:extLst>
              </p:cNvPr>
              <p:cNvSpPr>
                <a:spLocks noGrp="1" noRot="1" noChangeAspect="1" noMove="1" noResize="1" noEditPoints="1" noAdjustHandles="1" noChangeArrowheads="1" noChangeShapeType="1" noTextEdit="1"/>
              </p:cNvSpPr>
              <p:nvPr>
                <p:ph idx="1"/>
              </p:nvPr>
            </p:nvSpPr>
            <p:spPr>
              <a:blipFill>
                <a:blip r:embed="rId2"/>
                <a:stretch>
                  <a:fillRect l="-1086" t="-16279"/>
                </a:stretch>
              </a:blipFill>
            </p:spPr>
            <p:txBody>
              <a:bodyPr/>
              <a:lstStyle/>
              <a:p>
                <a:r>
                  <a:rPr lang="en-US">
                    <a:noFill/>
                  </a:rPr>
                  <a:t> </a:t>
                </a:r>
              </a:p>
            </p:txBody>
          </p:sp>
        </mc:Fallback>
      </mc:AlternateContent>
    </p:spTree>
    <p:extLst>
      <p:ext uri="{BB962C8B-B14F-4D97-AF65-F5344CB8AC3E}">
        <p14:creationId xmlns:p14="http://schemas.microsoft.com/office/powerpoint/2010/main" val="32368817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09AFB-195E-898A-5FFE-783425862862}"/>
              </a:ext>
            </a:extLst>
          </p:cNvPr>
          <p:cNvSpPr>
            <a:spLocks noGrp="1"/>
          </p:cNvSpPr>
          <p:nvPr>
            <p:ph type="title"/>
          </p:nvPr>
        </p:nvSpPr>
        <p:spPr/>
        <p:txBody>
          <a:bodyPr/>
          <a:lstStyle/>
          <a:p>
            <a:r>
              <a:rPr lang="en-US" dirty="0"/>
              <a:t>Policy Gradients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8097683-7AF9-1AD2-C5B7-C324FDDC31C3}"/>
                  </a:ext>
                </a:extLst>
              </p:cNvPr>
              <p:cNvSpPr>
                <a:spLocks noGrp="1"/>
              </p:cNvSpPr>
              <p:nvPr>
                <p:ph idx="1"/>
              </p:nvPr>
            </p:nvSpPr>
            <p:spPr/>
            <p:txBody>
              <a:bodyPr/>
              <a:lstStyle/>
              <a:p>
                <a:r>
                  <a:rPr lang="en-US" dirty="0"/>
                  <a:t>Trying to figure out how to take gradient of policy </a:t>
                </a:r>
              </a:p>
              <a:p>
                <a14:m>
                  <m:oMath xmlns:m="http://schemas.openxmlformats.org/officeDocument/2006/math">
                    <m:sSub>
                      <m:sSubPr>
                        <m:ctrlPr>
                          <a:rPr lang="en-US" i="1" smtClean="0">
                            <a:latin typeface="Cambria Math" panose="02040503050406030204" pitchFamily="18" charset="0"/>
                          </a:rPr>
                        </m:ctrlPr>
                      </m:sSubPr>
                      <m:e>
                        <m:r>
                          <m:rPr>
                            <m:sty m:val="p"/>
                          </m:rPr>
                          <a:rPr lang="en-US" i="1" smtClean="0">
                            <a:latin typeface="Cambria Math" panose="02040503050406030204" pitchFamily="18" charset="0"/>
                            <a:ea typeface="Cambria Math" panose="02040503050406030204" pitchFamily="18" charset="0"/>
                          </a:rPr>
                          <m:t>∇</m:t>
                        </m:r>
                      </m:e>
                      <m:sub>
                        <m:r>
                          <a:rPr lang="en-US"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 </m:t>
                    </m:r>
                    <m:nary>
                      <m:naryPr>
                        <m:chr m:val="∑"/>
                        <m:supHide m:val="on"/>
                        <m:ctrlPr>
                          <a:rPr lang="en-US" b="0" i="1" smtClean="0">
                            <a:latin typeface="Cambria Math" panose="02040503050406030204" pitchFamily="18" charset="0"/>
                            <a:ea typeface="Cambria Math" panose="02040503050406030204" pitchFamily="18" charset="0"/>
                          </a:rPr>
                        </m:ctrlPr>
                      </m:naryPr>
                      <m:sub>
                        <m:r>
                          <m:rPr>
                            <m:brk m:alnAt="7"/>
                          </m:rPr>
                          <a:rPr lang="en-US" b="0" i="1" smtClean="0">
                            <a:latin typeface="Cambria Math" panose="02040503050406030204" pitchFamily="18" charset="0"/>
                            <a:ea typeface="Cambria Math" panose="02040503050406030204" pitchFamily="18" charset="0"/>
                          </a:rPr>
                          <m:t>𝜏</m:t>
                        </m:r>
                      </m:sub>
                      <m:sup/>
                      <m:e>
                        <m:sSub>
                          <m:sSubPr>
                            <m:ctrlPr>
                              <a:rPr lang="en-US" b="0" i="1" smtClean="0">
                                <a:latin typeface="Cambria Math" panose="02040503050406030204" pitchFamily="18" charset="0"/>
                                <a:ea typeface="Cambria Math" panose="02040503050406030204" pitchFamily="18" charset="0"/>
                              </a:rPr>
                            </m:ctrlPr>
                          </m:sSubPr>
                          <m:e>
                            <m:r>
                              <m:rPr>
                                <m:sty m:val="p"/>
                              </m:rP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𝜃</m:t>
                            </m:r>
                          </m:sub>
                        </m:sSub>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e>
                        </m:d>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e>
                    </m:nary>
                  </m:oMath>
                </a14:m>
                <a:endParaRPr lang="en-US" dirty="0"/>
              </a:p>
              <a:p>
                <a:r>
                  <a:rPr lang="en-US" dirty="0"/>
                  <a:t>Can use log likelihood to re-write</a:t>
                </a:r>
              </a:p>
              <a:p>
                <a14:m>
                  <m:oMath xmlns:m="http://schemas.openxmlformats.org/officeDocument/2006/math">
                    <m:sSub>
                      <m:sSubPr>
                        <m:ctrlPr>
                          <a:rPr lang="en-US" i="1" smtClean="0">
                            <a:latin typeface="Cambria Math" panose="02040503050406030204" pitchFamily="18" charset="0"/>
                          </a:rPr>
                        </m:ctrlPr>
                      </m:sSubPr>
                      <m:e>
                        <m:r>
                          <m:rPr>
                            <m:sty m:val="p"/>
                          </m:rPr>
                          <a:rPr lang="en-US" i="1" smtClean="0">
                            <a:latin typeface="Cambria Math" panose="02040503050406030204" pitchFamily="18" charset="0"/>
                            <a:ea typeface="Cambria Math" panose="02040503050406030204" pitchFamily="18" charset="0"/>
                          </a:rPr>
                          <m:t>∇</m:t>
                        </m:r>
                      </m:e>
                      <m:sub>
                        <m:r>
                          <a:rPr lang="en-US" i="1" smtClean="0">
                            <a:latin typeface="Cambria Math" panose="02040503050406030204" pitchFamily="18" charset="0"/>
                            <a:ea typeface="Cambria Math" panose="02040503050406030204" pitchFamily="18" charset="0"/>
                          </a:rPr>
                          <m:t>𝜃</m:t>
                        </m:r>
                      </m:sub>
                    </m:sSub>
                    <m:func>
                      <m:funcPr>
                        <m:ctrlPr>
                          <a:rPr lang="en-US" i="1" smtClean="0">
                            <a:latin typeface="Cambria Math" panose="02040503050406030204" pitchFamily="18" charset="0"/>
                          </a:rPr>
                        </m:ctrlPr>
                      </m:funcPr>
                      <m:fName>
                        <m:r>
                          <m:rPr>
                            <m:sty m:val="p"/>
                          </m:rPr>
                          <a:rPr lang="en-US" i="0" smtClean="0">
                            <a:latin typeface="Cambria Math" panose="02040503050406030204" pitchFamily="18" charset="0"/>
                          </a:rPr>
                          <m:t>log</m:t>
                        </m:r>
                      </m:fName>
                      <m:e>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e>
                    </m:func>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den>
                    </m:f>
                  </m:oMath>
                </a14:m>
                <a:endParaRPr lang="en-US" dirty="0"/>
              </a:p>
              <a:p>
                <a14:m>
                  <m:oMath xmlns:m="http://schemas.openxmlformats.org/officeDocument/2006/math">
                    <m:sSub>
                      <m:sSubPr>
                        <m:ctrlPr>
                          <a:rPr lang="en-US" i="1">
                            <a:latin typeface="Cambria Math" panose="02040503050406030204" pitchFamily="18" charset="0"/>
                          </a:rPr>
                        </m:ctrlPr>
                      </m:sSubPr>
                      <m:e>
                        <m:sSub>
                          <m:sSubPr>
                            <m:ctrlPr>
                              <a:rPr lang="en-US" i="1" smtClean="0">
                                <a:latin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𝜋</m:t>
                            </m:r>
                          </m:e>
                          <m:sub>
                            <m:r>
                              <a:rPr lang="en-US"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r>
                          <m:rPr>
                            <m:sty m:val="p"/>
                          </m:rP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𝜃</m:t>
                        </m:r>
                      </m:sub>
                    </m:sSub>
                    <m:func>
                      <m:funcPr>
                        <m:ctrlPr>
                          <a:rPr lang="en-US" i="1">
                            <a:latin typeface="Cambria Math" panose="02040503050406030204" pitchFamily="18" charset="0"/>
                          </a:rPr>
                        </m:ctrlPr>
                      </m:funcPr>
                      <m:fName>
                        <m:r>
                          <m:rPr>
                            <m:sty m:val="p"/>
                          </m:rPr>
                          <a:rPr lang="en-US">
                            <a:latin typeface="Cambria Math" panose="02040503050406030204" pitchFamily="18" charset="0"/>
                          </a:rPr>
                          <m:t>log</m:t>
                        </m:r>
                      </m:fName>
                      <m:e>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𝜃</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𝜏</m:t>
                        </m:r>
                        <m:r>
                          <a:rPr lang="en-US" i="1">
                            <a:latin typeface="Cambria Math" panose="02040503050406030204" pitchFamily="18" charset="0"/>
                            <a:ea typeface="Cambria Math" panose="02040503050406030204" pitchFamily="18" charset="0"/>
                          </a:rPr>
                          <m:t>))</m:t>
                        </m:r>
                      </m:e>
                    </m:func>
                    <m:r>
                      <a:rPr lang="en-US" i="1">
                        <a:latin typeface="Cambria Math" panose="02040503050406030204" pitchFamily="18" charset="0"/>
                      </a:rPr>
                      <m:t>=</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ea typeface="Cambria Math" panose="02040503050406030204" pitchFamily="18" charset="0"/>
                      </a:rPr>
                      <m:t>𝜋</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oMath>
                </a14:m>
                <a:endParaRPr lang="en-US" dirty="0"/>
              </a:p>
              <a:p>
                <a:r>
                  <a:rPr lang="en-US" dirty="0"/>
                  <a:t>Now we want to rewrite </a:t>
                </a:r>
                <a14:m>
                  <m:oMath xmlns:m="http://schemas.openxmlformats.org/officeDocument/2006/math">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𝜏</m:t>
                                </m:r>
                              </m:e>
                            </m:d>
                          </m:e>
                        </m:d>
                      </m:e>
                    </m:func>
                    <m:r>
                      <a:rPr lang="en-US" b="0" i="1" smtClean="0">
                        <a:latin typeface="Cambria Math" panose="02040503050406030204" pitchFamily="18" charset="0"/>
                        <a:ea typeface="Cambria Math" panose="02040503050406030204" pitchFamily="18" charset="0"/>
                      </a:rPr>
                      <m:t>𝑅</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68097683-7AF9-1AD2-C5B7-C324FDDC31C3}"/>
                  </a:ext>
                </a:extLst>
              </p:cNvPr>
              <p:cNvSpPr>
                <a:spLocks noGrp="1" noRot="1" noChangeAspect="1" noMove="1" noResize="1" noEditPoints="1" noAdjustHandles="1" noChangeArrowheads="1" noChangeShapeType="1" noTextEdit="1"/>
              </p:cNvSpPr>
              <p:nvPr>
                <p:ph idx="1"/>
              </p:nvPr>
            </p:nvSpPr>
            <p:spPr>
              <a:blipFill>
                <a:blip r:embed="rId3"/>
                <a:stretch>
                  <a:fillRect l="-1086" t="-4942"/>
                </a:stretch>
              </a:blipFill>
            </p:spPr>
            <p:txBody>
              <a:bodyPr/>
              <a:lstStyle/>
              <a:p>
                <a:r>
                  <a:rPr lang="en-US">
                    <a:noFill/>
                  </a:rPr>
                  <a:t> </a:t>
                </a:r>
              </a:p>
            </p:txBody>
          </p:sp>
        </mc:Fallback>
      </mc:AlternateContent>
    </p:spTree>
    <p:extLst>
      <p:ext uri="{BB962C8B-B14F-4D97-AF65-F5344CB8AC3E}">
        <p14:creationId xmlns:p14="http://schemas.microsoft.com/office/powerpoint/2010/main" val="27911570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41638-472F-A7E3-A2AB-20E99F44C491}"/>
              </a:ext>
            </a:extLst>
          </p:cNvPr>
          <p:cNvSpPr>
            <a:spLocks noGrp="1"/>
          </p:cNvSpPr>
          <p:nvPr>
            <p:ph type="title"/>
          </p:nvPr>
        </p:nvSpPr>
        <p:spPr/>
        <p:txBody>
          <a:bodyPr/>
          <a:lstStyle/>
          <a:p>
            <a:r>
              <a:rPr lang="en-US" dirty="0"/>
              <a:t>Policy Gradients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6ECC32E-AFA8-78E2-1F99-26349A60A890}"/>
                  </a:ext>
                </a:extLst>
              </p:cNvPr>
              <p:cNvSpPr>
                <a:spLocks noGrp="1"/>
              </p:cNvSpPr>
              <p:nvPr>
                <p:ph idx="1"/>
              </p:nvPr>
            </p:nvSpPr>
            <p:spPr/>
            <p:txBody>
              <a:bodyPr>
                <a:normAutofit fontScale="70000" lnSpcReduction="20000"/>
              </a:bodyPr>
              <a:lstStyle/>
              <a:p>
                <a14:m>
                  <m:oMath xmlns:m="http://schemas.openxmlformats.org/officeDocument/2006/math">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log</m:t>
                        </m:r>
                      </m:fName>
                      <m:e>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𝜋</m:t>
                                </m:r>
                              </m:e>
                              <m:sub>
                                <m:r>
                                  <a:rPr lang="en-US" sz="2400" b="0" i="1" smtClean="0">
                                    <a:latin typeface="Cambria Math" panose="02040503050406030204" pitchFamily="18" charset="0"/>
                                    <a:ea typeface="Cambria Math" panose="02040503050406030204" pitchFamily="18" charset="0"/>
                                  </a:rPr>
                                  <m:t>𝜃</m:t>
                                </m:r>
                              </m:sub>
                            </m:sSub>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𝜏</m:t>
                                </m:r>
                              </m:e>
                            </m:d>
                          </m:e>
                        </m:d>
                      </m:e>
                    </m:func>
                    <m:r>
                      <a:rPr lang="en-US" sz="2400" b="0" i="1" smtClean="0">
                        <a:latin typeface="Cambria Math" panose="02040503050406030204" pitchFamily="18" charset="0"/>
                        <a:ea typeface="Cambria Math" panose="02040503050406030204" pitchFamily="18" charset="0"/>
                      </a:rPr>
                      <m:t>=</m:t>
                    </m:r>
                    <m:func>
                      <m:funcPr>
                        <m:ctrlPr>
                          <a:rPr lang="en-US" sz="2400" b="0" i="1" smtClean="0">
                            <a:solidFill>
                              <a:srgbClr val="00B0F0"/>
                            </a:solidFill>
                            <a:latin typeface="Cambria Math" panose="02040503050406030204" pitchFamily="18" charset="0"/>
                            <a:ea typeface="Cambria Math" panose="02040503050406030204" pitchFamily="18" charset="0"/>
                          </a:rPr>
                        </m:ctrlPr>
                      </m:funcPr>
                      <m:fName>
                        <m:r>
                          <m:rPr>
                            <m:sty m:val="p"/>
                          </m:rPr>
                          <a:rPr lang="en-US" sz="2400" b="0" i="0" smtClean="0">
                            <a:solidFill>
                              <a:srgbClr val="00B0F0"/>
                            </a:solidFill>
                            <a:latin typeface="Cambria Math" panose="02040503050406030204" pitchFamily="18" charset="0"/>
                            <a:ea typeface="Cambria Math" panose="02040503050406030204" pitchFamily="18" charset="0"/>
                          </a:rPr>
                          <m:t>log</m:t>
                        </m:r>
                      </m:fName>
                      <m:e>
                        <m:d>
                          <m:dPr>
                            <m:ctrlPr>
                              <a:rPr lang="en-US" sz="2400" b="0" i="1" smtClean="0">
                                <a:solidFill>
                                  <a:srgbClr val="00B0F0"/>
                                </a:solidFill>
                                <a:latin typeface="Cambria Math" panose="02040503050406030204" pitchFamily="18" charset="0"/>
                                <a:ea typeface="Cambria Math" panose="02040503050406030204" pitchFamily="18" charset="0"/>
                              </a:rPr>
                            </m:ctrlPr>
                          </m:dPr>
                          <m:e>
                            <m:r>
                              <a:rPr lang="en-US" sz="2400" b="0" i="1" smtClean="0">
                                <a:solidFill>
                                  <a:srgbClr val="00B0F0"/>
                                </a:solidFill>
                                <a:latin typeface="Cambria Math" panose="02040503050406030204" pitchFamily="18" charset="0"/>
                                <a:ea typeface="Cambria Math" panose="02040503050406030204" pitchFamily="18" charset="0"/>
                              </a:rPr>
                              <m:t>𝑃</m:t>
                            </m:r>
                            <m:d>
                              <m:dPr>
                                <m:ctrlPr>
                                  <a:rPr lang="en-US" sz="2400" b="0" i="1" smtClean="0">
                                    <a:solidFill>
                                      <a:srgbClr val="00B0F0"/>
                                    </a:solidFill>
                                    <a:latin typeface="Cambria Math" panose="02040503050406030204" pitchFamily="18" charset="0"/>
                                    <a:ea typeface="Cambria Math" panose="02040503050406030204" pitchFamily="18" charset="0"/>
                                  </a:rPr>
                                </m:ctrlPr>
                              </m:dPr>
                              <m:e>
                                <m:sSub>
                                  <m:sSubPr>
                                    <m:ctrlPr>
                                      <a:rPr lang="en-US" sz="2400" b="0" i="1" smtClean="0">
                                        <a:solidFill>
                                          <a:srgbClr val="00B0F0"/>
                                        </a:solidFill>
                                        <a:latin typeface="Cambria Math" panose="02040503050406030204" pitchFamily="18" charset="0"/>
                                        <a:ea typeface="Cambria Math" panose="02040503050406030204" pitchFamily="18" charset="0"/>
                                      </a:rPr>
                                    </m:ctrlPr>
                                  </m:sSubPr>
                                  <m:e>
                                    <m:r>
                                      <a:rPr lang="en-US" sz="2400" b="0" i="1" smtClean="0">
                                        <a:solidFill>
                                          <a:srgbClr val="00B0F0"/>
                                        </a:solidFill>
                                        <a:latin typeface="Cambria Math" panose="02040503050406030204" pitchFamily="18" charset="0"/>
                                        <a:ea typeface="Cambria Math" panose="02040503050406030204" pitchFamily="18" charset="0"/>
                                      </a:rPr>
                                      <m:t>𝑠</m:t>
                                    </m:r>
                                  </m:e>
                                  <m:sub>
                                    <m:r>
                                      <a:rPr lang="en-US" sz="2400" b="0" i="1" smtClean="0">
                                        <a:solidFill>
                                          <a:srgbClr val="00B0F0"/>
                                        </a:solidFill>
                                        <a:latin typeface="Cambria Math" panose="02040503050406030204" pitchFamily="18" charset="0"/>
                                        <a:ea typeface="Cambria Math" panose="02040503050406030204" pitchFamily="18" charset="0"/>
                                      </a:rPr>
                                      <m:t>0</m:t>
                                    </m:r>
                                  </m:sub>
                                </m:sSub>
                              </m:e>
                            </m:d>
                          </m:e>
                        </m:d>
                      </m:e>
                    </m:func>
                    <m:r>
                      <a:rPr lang="en-US" sz="2400" b="0" i="1" smtClean="0">
                        <a:latin typeface="Cambria Math" panose="02040503050406030204" pitchFamily="18" charset="0"/>
                        <a:ea typeface="Cambria Math" panose="02040503050406030204" pitchFamily="18" charset="0"/>
                      </a:rPr>
                      <m:t>+ </m:t>
                    </m:r>
                    <m:nary>
                      <m:naryPr>
                        <m:chr m:val="∑"/>
                        <m:ctrlPr>
                          <a:rPr lang="en-US" sz="2400" b="0" i="1" smtClean="0">
                            <a:solidFill>
                              <a:schemeClr val="accent6"/>
                            </a:solidFill>
                            <a:latin typeface="Cambria Math" panose="02040503050406030204" pitchFamily="18" charset="0"/>
                            <a:ea typeface="Cambria Math" panose="02040503050406030204" pitchFamily="18" charset="0"/>
                          </a:rPr>
                        </m:ctrlPr>
                      </m:naryPr>
                      <m:sub>
                        <m:r>
                          <m:rPr>
                            <m:brk m:alnAt="23"/>
                          </m:rPr>
                          <a:rPr lang="en-US" sz="2400" b="0" i="1" smtClean="0">
                            <a:solidFill>
                              <a:schemeClr val="accent6"/>
                            </a:solidFill>
                            <a:latin typeface="Cambria Math" panose="02040503050406030204" pitchFamily="18" charset="0"/>
                            <a:ea typeface="Cambria Math" panose="02040503050406030204" pitchFamily="18" charset="0"/>
                          </a:rPr>
                          <m:t>𝑡</m:t>
                        </m:r>
                        <m:r>
                          <a:rPr lang="en-US" sz="2400" b="0" i="1" smtClean="0">
                            <a:solidFill>
                              <a:schemeClr val="accent6"/>
                            </a:solidFill>
                            <a:latin typeface="Cambria Math" panose="02040503050406030204" pitchFamily="18" charset="0"/>
                            <a:ea typeface="Cambria Math" panose="02040503050406030204" pitchFamily="18" charset="0"/>
                          </a:rPr>
                          <m:t>=1</m:t>
                        </m:r>
                      </m:sub>
                      <m:sup>
                        <m:r>
                          <a:rPr lang="en-US" sz="2400" b="0" i="1" smtClean="0">
                            <a:solidFill>
                              <a:schemeClr val="accent6"/>
                            </a:solidFill>
                            <a:latin typeface="Cambria Math" panose="02040503050406030204" pitchFamily="18" charset="0"/>
                            <a:ea typeface="Cambria Math" panose="02040503050406030204" pitchFamily="18" charset="0"/>
                          </a:rPr>
                          <m:t>𝑇</m:t>
                        </m:r>
                      </m:sup>
                      <m:e>
                        <m:r>
                          <m:rPr>
                            <m:sty m:val="p"/>
                          </m:rPr>
                          <a:rPr lang="en-US" sz="2400" b="0" i="0" smtClean="0">
                            <a:solidFill>
                              <a:schemeClr val="accent6"/>
                            </a:solidFill>
                            <a:latin typeface="Cambria Math" panose="02040503050406030204" pitchFamily="18" charset="0"/>
                            <a:ea typeface="Cambria Math" panose="02040503050406030204" pitchFamily="18" charset="0"/>
                          </a:rPr>
                          <m:t>log</m:t>
                        </m:r>
                        <m:r>
                          <a:rPr lang="en-US" sz="2400" b="0" i="1" smtClean="0">
                            <a:solidFill>
                              <a:schemeClr val="accent6"/>
                            </a:solidFill>
                            <a:latin typeface="Cambria Math" panose="02040503050406030204" pitchFamily="18" charset="0"/>
                            <a:ea typeface="Cambria Math" panose="02040503050406030204" pitchFamily="18" charset="0"/>
                          </a:rPr>
                          <m:t>⁡(</m:t>
                        </m:r>
                        <m:sSub>
                          <m:sSubPr>
                            <m:ctrlPr>
                              <a:rPr lang="en-US" sz="2400" b="0" i="1" smtClean="0">
                                <a:solidFill>
                                  <a:schemeClr val="accent6"/>
                                </a:solidFill>
                                <a:latin typeface="Cambria Math" panose="02040503050406030204" pitchFamily="18" charset="0"/>
                                <a:ea typeface="Cambria Math" panose="02040503050406030204" pitchFamily="18" charset="0"/>
                              </a:rPr>
                            </m:ctrlPr>
                          </m:sSubPr>
                          <m:e>
                            <m:r>
                              <a:rPr lang="en-US" sz="2400" b="0" i="1" smtClean="0">
                                <a:solidFill>
                                  <a:schemeClr val="accent6"/>
                                </a:solidFill>
                                <a:latin typeface="Cambria Math" panose="02040503050406030204" pitchFamily="18" charset="0"/>
                                <a:ea typeface="Cambria Math" panose="02040503050406030204" pitchFamily="18" charset="0"/>
                              </a:rPr>
                              <m:t>𝜋</m:t>
                            </m:r>
                          </m:e>
                          <m:sub>
                            <m:r>
                              <a:rPr lang="en-US" sz="2400" b="0" i="1" smtClean="0">
                                <a:solidFill>
                                  <a:schemeClr val="accent6"/>
                                </a:solidFill>
                                <a:latin typeface="Cambria Math" panose="02040503050406030204" pitchFamily="18" charset="0"/>
                                <a:ea typeface="Cambria Math" panose="02040503050406030204" pitchFamily="18" charset="0"/>
                              </a:rPr>
                              <m:t>𝜃</m:t>
                            </m:r>
                          </m:sub>
                        </m:sSub>
                        <m:d>
                          <m:dPr>
                            <m:endChr m:val="|"/>
                            <m:ctrlPr>
                              <a:rPr lang="en-US" sz="2400" b="0" i="1" smtClean="0">
                                <a:solidFill>
                                  <a:schemeClr val="accent6"/>
                                </a:solidFill>
                                <a:latin typeface="Cambria Math" panose="02040503050406030204" pitchFamily="18" charset="0"/>
                                <a:ea typeface="Cambria Math" panose="02040503050406030204" pitchFamily="18" charset="0"/>
                              </a:rPr>
                            </m:ctrlPr>
                          </m:dPr>
                          <m:e>
                            <m:sSub>
                              <m:sSubPr>
                                <m:ctrlPr>
                                  <a:rPr lang="en-US" sz="2400" b="0" i="1" smtClean="0">
                                    <a:solidFill>
                                      <a:schemeClr val="accent6"/>
                                    </a:solidFill>
                                    <a:latin typeface="Cambria Math" panose="02040503050406030204" pitchFamily="18" charset="0"/>
                                    <a:ea typeface="Cambria Math" panose="02040503050406030204" pitchFamily="18" charset="0"/>
                                  </a:rPr>
                                </m:ctrlPr>
                              </m:sSubPr>
                              <m:e>
                                <m:r>
                                  <a:rPr lang="en-US" sz="2400" b="0" i="1" smtClean="0">
                                    <a:solidFill>
                                      <a:schemeClr val="accent6"/>
                                    </a:solidFill>
                                    <a:latin typeface="Cambria Math" panose="02040503050406030204" pitchFamily="18" charset="0"/>
                                    <a:ea typeface="Cambria Math" panose="02040503050406030204" pitchFamily="18" charset="0"/>
                                  </a:rPr>
                                  <m:t>𝑎</m:t>
                                </m:r>
                              </m:e>
                              <m:sub>
                                <m:r>
                                  <a:rPr lang="en-US" sz="2400" b="0" i="1" smtClean="0">
                                    <a:solidFill>
                                      <a:schemeClr val="accent6"/>
                                    </a:solidFill>
                                    <a:latin typeface="Cambria Math" panose="02040503050406030204" pitchFamily="18" charset="0"/>
                                    <a:ea typeface="Cambria Math" panose="02040503050406030204" pitchFamily="18" charset="0"/>
                                  </a:rPr>
                                  <m:t>𝑡</m:t>
                                </m:r>
                              </m:sub>
                            </m:sSub>
                            <m:r>
                              <a:rPr lang="en-US" sz="2400" b="0" i="1" smtClean="0">
                                <a:solidFill>
                                  <a:schemeClr val="accent6"/>
                                </a:solidFill>
                                <a:latin typeface="Cambria Math" panose="02040503050406030204" pitchFamily="18" charset="0"/>
                                <a:ea typeface="Cambria Math" panose="02040503050406030204" pitchFamily="18" charset="0"/>
                              </a:rPr>
                              <m:t> </m:t>
                            </m:r>
                          </m:e>
                        </m:d>
                        <m:sSub>
                          <m:sSubPr>
                            <m:ctrlPr>
                              <a:rPr lang="en-US" sz="2400" b="0" i="1" smtClean="0">
                                <a:solidFill>
                                  <a:schemeClr val="accent6"/>
                                </a:solidFill>
                                <a:latin typeface="Cambria Math" panose="02040503050406030204" pitchFamily="18" charset="0"/>
                                <a:ea typeface="Cambria Math" panose="02040503050406030204" pitchFamily="18" charset="0"/>
                              </a:rPr>
                            </m:ctrlPr>
                          </m:sSubPr>
                          <m:e>
                            <m:r>
                              <a:rPr lang="en-US" sz="2400" b="0" i="1" smtClean="0">
                                <a:solidFill>
                                  <a:schemeClr val="accent6"/>
                                </a:solidFill>
                                <a:latin typeface="Cambria Math" panose="02040503050406030204" pitchFamily="18" charset="0"/>
                                <a:ea typeface="Cambria Math" panose="02040503050406030204" pitchFamily="18" charset="0"/>
                              </a:rPr>
                              <m:t>𝑠</m:t>
                            </m:r>
                          </m:e>
                          <m:sub>
                            <m:r>
                              <a:rPr lang="en-US" sz="2400" b="0" i="1" smtClean="0">
                                <a:solidFill>
                                  <a:schemeClr val="accent6"/>
                                </a:solidFill>
                                <a:latin typeface="Cambria Math" panose="02040503050406030204" pitchFamily="18" charset="0"/>
                                <a:ea typeface="Cambria Math" panose="02040503050406030204" pitchFamily="18" charset="0"/>
                              </a:rPr>
                              <m:t>𝑡</m:t>
                            </m:r>
                          </m:sub>
                        </m:sSub>
                        <m:r>
                          <a:rPr lang="en-US" sz="2400" b="0" i="1" smtClean="0">
                            <a:solidFill>
                              <a:schemeClr val="accent6"/>
                            </a:solidFill>
                            <a:latin typeface="Cambria Math" panose="02040503050406030204" pitchFamily="18" charset="0"/>
                            <a:ea typeface="Cambria Math" panose="02040503050406030204" pitchFamily="18" charset="0"/>
                          </a:rPr>
                          <m:t>))+ </m:t>
                        </m:r>
                        <m:nary>
                          <m:naryPr>
                            <m:chr m:val="∑"/>
                            <m:limLoc m:val="subSup"/>
                            <m:ctrlPr>
                              <a:rPr lang="en-US" sz="2400" b="0" i="1" smtClean="0">
                                <a:solidFill>
                                  <a:srgbClr val="FF0000"/>
                                </a:solidFill>
                                <a:latin typeface="Cambria Math" panose="02040503050406030204" pitchFamily="18" charset="0"/>
                                <a:ea typeface="Cambria Math" panose="02040503050406030204" pitchFamily="18" charset="0"/>
                              </a:rPr>
                            </m:ctrlPr>
                          </m:naryPr>
                          <m:sub>
                            <m:r>
                              <m:rPr>
                                <m:brk m:alnAt="25"/>
                              </m:rPr>
                              <a:rPr lang="en-US" sz="2400" b="0" i="1" smtClean="0">
                                <a:solidFill>
                                  <a:srgbClr val="FF0000"/>
                                </a:solidFill>
                                <a:latin typeface="Cambria Math" panose="02040503050406030204" pitchFamily="18" charset="0"/>
                                <a:ea typeface="Cambria Math" panose="02040503050406030204" pitchFamily="18" charset="0"/>
                              </a:rPr>
                              <m:t>𝑡</m:t>
                            </m:r>
                            <m:r>
                              <a:rPr lang="en-US" sz="2400" b="0" i="1" smtClean="0">
                                <a:solidFill>
                                  <a:srgbClr val="FF0000"/>
                                </a:solidFill>
                                <a:latin typeface="Cambria Math" panose="02040503050406030204" pitchFamily="18" charset="0"/>
                                <a:ea typeface="Cambria Math" panose="02040503050406030204" pitchFamily="18" charset="0"/>
                              </a:rPr>
                              <m:t>=1</m:t>
                            </m:r>
                          </m:sub>
                          <m:sup>
                            <m:r>
                              <a:rPr lang="en-US" sz="2400" b="0" i="1" smtClean="0">
                                <a:solidFill>
                                  <a:srgbClr val="FF0000"/>
                                </a:solidFill>
                                <a:latin typeface="Cambria Math" panose="02040503050406030204" pitchFamily="18" charset="0"/>
                                <a:ea typeface="Cambria Math" panose="02040503050406030204" pitchFamily="18" charset="0"/>
                              </a:rPr>
                              <m:t>𝑇</m:t>
                            </m:r>
                          </m:sup>
                          <m:e>
                            <m:r>
                              <m:rPr>
                                <m:sty m:val="p"/>
                              </m:rPr>
                              <a:rPr lang="en-US" sz="2400" b="0" i="0" smtClean="0">
                                <a:solidFill>
                                  <a:srgbClr val="FF0000"/>
                                </a:solidFill>
                                <a:latin typeface="Cambria Math" panose="02040503050406030204" pitchFamily="18" charset="0"/>
                                <a:ea typeface="Cambria Math" panose="02040503050406030204" pitchFamily="18" charset="0"/>
                              </a:rPr>
                              <m:t>log</m:t>
                            </m:r>
                            <m:r>
                              <a:rPr lang="en-US" sz="2400" b="0" i="1" smtClean="0">
                                <a:solidFill>
                                  <a:srgbClr val="FF0000"/>
                                </a:solidFill>
                                <a:latin typeface="Cambria Math" panose="02040503050406030204" pitchFamily="18" charset="0"/>
                                <a:ea typeface="Cambria Math" panose="02040503050406030204" pitchFamily="18" charset="0"/>
                              </a:rPr>
                              <m:t>⁡(</m:t>
                            </m:r>
                            <m:r>
                              <a:rPr lang="en-US" sz="2400" b="0" i="1" smtClean="0">
                                <a:solidFill>
                                  <a:srgbClr val="FF0000"/>
                                </a:solidFill>
                                <a:latin typeface="Cambria Math" panose="02040503050406030204" pitchFamily="18" charset="0"/>
                                <a:ea typeface="Cambria Math" panose="02040503050406030204" pitchFamily="18" charset="0"/>
                              </a:rPr>
                              <m:t>𝑝</m:t>
                            </m:r>
                            <m:d>
                              <m:dPr>
                                <m:endChr m:val="|"/>
                                <m:ctrlPr>
                                  <a:rPr lang="en-US" sz="2400" b="0" i="1" smtClean="0">
                                    <a:solidFill>
                                      <a:srgbClr val="FF0000"/>
                                    </a:solidFill>
                                    <a:latin typeface="Cambria Math" panose="02040503050406030204" pitchFamily="18" charset="0"/>
                                    <a:ea typeface="Cambria Math" panose="02040503050406030204" pitchFamily="18" charset="0"/>
                                  </a:rPr>
                                </m:ctrlPr>
                              </m:dPr>
                              <m:e>
                                <m:sSub>
                                  <m:sSubPr>
                                    <m:ctrlPr>
                                      <a:rPr lang="en-US" sz="2400" b="0" i="1" smtClean="0">
                                        <a:solidFill>
                                          <a:srgbClr val="FF0000"/>
                                        </a:solidFill>
                                        <a:latin typeface="Cambria Math" panose="02040503050406030204" pitchFamily="18" charset="0"/>
                                        <a:ea typeface="Cambria Math" panose="02040503050406030204" pitchFamily="18" charset="0"/>
                                      </a:rPr>
                                    </m:ctrlPr>
                                  </m:sSubPr>
                                  <m:e>
                                    <m:r>
                                      <a:rPr lang="en-US" sz="2400" b="0" i="1" smtClean="0">
                                        <a:solidFill>
                                          <a:srgbClr val="FF0000"/>
                                        </a:solidFill>
                                        <a:latin typeface="Cambria Math" panose="02040503050406030204" pitchFamily="18" charset="0"/>
                                        <a:ea typeface="Cambria Math" panose="02040503050406030204" pitchFamily="18" charset="0"/>
                                      </a:rPr>
                                      <m:t>𝑠</m:t>
                                    </m:r>
                                  </m:e>
                                  <m:sub>
                                    <m:r>
                                      <a:rPr lang="en-US" sz="2400" b="0" i="1" smtClean="0">
                                        <a:solidFill>
                                          <a:srgbClr val="FF0000"/>
                                        </a:solidFill>
                                        <a:latin typeface="Cambria Math" panose="02040503050406030204" pitchFamily="18" charset="0"/>
                                        <a:ea typeface="Cambria Math" panose="02040503050406030204" pitchFamily="18" charset="0"/>
                                      </a:rPr>
                                      <m:t>𝑡</m:t>
                                    </m:r>
                                    <m:r>
                                      <a:rPr lang="en-US" sz="2400" b="0" i="1" smtClean="0">
                                        <a:solidFill>
                                          <a:srgbClr val="FF0000"/>
                                        </a:solidFill>
                                        <a:latin typeface="Cambria Math" panose="02040503050406030204" pitchFamily="18" charset="0"/>
                                        <a:ea typeface="Cambria Math" panose="02040503050406030204" pitchFamily="18" charset="0"/>
                                      </a:rPr>
                                      <m:t>+1</m:t>
                                    </m:r>
                                  </m:sub>
                                </m:sSub>
                                <m:r>
                                  <a:rPr lang="en-US" sz="2400" b="0" i="1" smtClean="0">
                                    <a:solidFill>
                                      <a:srgbClr val="FF0000"/>
                                    </a:solidFill>
                                    <a:latin typeface="Cambria Math" panose="02040503050406030204" pitchFamily="18" charset="0"/>
                                    <a:ea typeface="Cambria Math" panose="02040503050406030204" pitchFamily="18" charset="0"/>
                                  </a:rPr>
                                  <m:t> </m:t>
                                </m:r>
                              </m:e>
                            </m:d>
                            <m:sSub>
                              <m:sSubPr>
                                <m:ctrlPr>
                                  <a:rPr lang="en-US" sz="2400" b="0" i="1" smtClean="0">
                                    <a:solidFill>
                                      <a:srgbClr val="FF0000"/>
                                    </a:solidFill>
                                    <a:latin typeface="Cambria Math" panose="02040503050406030204" pitchFamily="18" charset="0"/>
                                    <a:ea typeface="Cambria Math" panose="02040503050406030204" pitchFamily="18" charset="0"/>
                                  </a:rPr>
                                </m:ctrlPr>
                              </m:sSubPr>
                              <m:e>
                                <m:r>
                                  <a:rPr lang="en-US" sz="2400" b="0" i="1" smtClean="0">
                                    <a:solidFill>
                                      <a:srgbClr val="FF0000"/>
                                    </a:solidFill>
                                    <a:latin typeface="Cambria Math" panose="02040503050406030204" pitchFamily="18" charset="0"/>
                                    <a:ea typeface="Cambria Math" panose="02040503050406030204" pitchFamily="18" charset="0"/>
                                  </a:rPr>
                                  <m:t>𝑠</m:t>
                                </m:r>
                              </m:e>
                              <m:sub>
                                <m:r>
                                  <a:rPr lang="en-US" sz="2400" b="0" i="1" smtClean="0">
                                    <a:solidFill>
                                      <a:srgbClr val="FF0000"/>
                                    </a:solidFill>
                                    <a:latin typeface="Cambria Math" panose="02040503050406030204" pitchFamily="18" charset="0"/>
                                    <a:ea typeface="Cambria Math" panose="02040503050406030204" pitchFamily="18" charset="0"/>
                                  </a:rPr>
                                  <m:t>𝑡</m:t>
                                </m:r>
                              </m:sub>
                            </m:sSub>
                            <m:r>
                              <a:rPr lang="en-US" sz="2400" b="0" i="1" smtClean="0">
                                <a:solidFill>
                                  <a:srgbClr val="FF0000"/>
                                </a:solidFill>
                                <a:latin typeface="Cambria Math" panose="02040503050406030204" pitchFamily="18" charset="0"/>
                                <a:ea typeface="Cambria Math" panose="02040503050406030204" pitchFamily="18" charset="0"/>
                              </a:rPr>
                              <m:t>, </m:t>
                            </m:r>
                            <m:sSub>
                              <m:sSubPr>
                                <m:ctrlPr>
                                  <a:rPr lang="en-US" sz="2400" b="0" i="1" smtClean="0">
                                    <a:solidFill>
                                      <a:srgbClr val="FF0000"/>
                                    </a:solidFill>
                                    <a:latin typeface="Cambria Math" panose="02040503050406030204" pitchFamily="18" charset="0"/>
                                    <a:ea typeface="Cambria Math" panose="02040503050406030204" pitchFamily="18" charset="0"/>
                                  </a:rPr>
                                </m:ctrlPr>
                              </m:sSubPr>
                              <m:e>
                                <m:r>
                                  <a:rPr lang="en-US" sz="2400" b="0" i="1" smtClean="0">
                                    <a:solidFill>
                                      <a:srgbClr val="FF0000"/>
                                    </a:solidFill>
                                    <a:latin typeface="Cambria Math" panose="02040503050406030204" pitchFamily="18" charset="0"/>
                                    <a:ea typeface="Cambria Math" panose="02040503050406030204" pitchFamily="18" charset="0"/>
                                  </a:rPr>
                                  <m:t>𝑎</m:t>
                                </m:r>
                              </m:e>
                              <m:sub>
                                <m:r>
                                  <a:rPr lang="en-US" sz="2400" b="0" i="1" smtClean="0">
                                    <a:solidFill>
                                      <a:srgbClr val="FF0000"/>
                                    </a:solidFill>
                                    <a:latin typeface="Cambria Math" panose="02040503050406030204" pitchFamily="18" charset="0"/>
                                    <a:ea typeface="Cambria Math" panose="02040503050406030204" pitchFamily="18" charset="0"/>
                                  </a:rPr>
                                  <m:t>𝑡</m:t>
                                </m:r>
                              </m:sub>
                            </m:sSub>
                            <m:r>
                              <a:rPr lang="en-US" sz="2400" b="0" i="1" smtClean="0">
                                <a:solidFill>
                                  <a:srgbClr val="FF0000"/>
                                </a:solidFill>
                                <a:latin typeface="Cambria Math" panose="02040503050406030204" pitchFamily="18" charset="0"/>
                                <a:ea typeface="Cambria Math" panose="02040503050406030204" pitchFamily="18" charset="0"/>
                              </a:rPr>
                              <m:t>))</m:t>
                            </m:r>
                          </m:e>
                        </m:nary>
                      </m:e>
                    </m:nary>
                  </m:oMath>
                </a14:m>
                <a:endParaRPr lang="en-US" sz="2400" dirty="0"/>
              </a:p>
              <a:p>
                <a:r>
                  <a:rPr lang="en-US" sz="2400" dirty="0">
                    <a:solidFill>
                      <a:srgbClr val="00B0F0"/>
                    </a:solidFill>
                  </a:rPr>
                  <a:t>Start State</a:t>
                </a:r>
              </a:p>
              <a:p>
                <a:r>
                  <a:rPr lang="en-US" sz="2400" dirty="0">
                    <a:solidFill>
                      <a:srgbClr val="00B050"/>
                    </a:solidFill>
                  </a:rPr>
                  <a:t>Action Selection</a:t>
                </a:r>
              </a:p>
              <a:p>
                <a:r>
                  <a:rPr lang="en-US" sz="2400" dirty="0">
                    <a:solidFill>
                      <a:srgbClr val="FF0000"/>
                    </a:solidFill>
                  </a:rPr>
                  <a:t>World Model</a:t>
                </a:r>
              </a:p>
              <a:p>
                <a:r>
                  <a:rPr lang="en-US" sz="2400" dirty="0"/>
                  <a:t>When we take the derivative with respect to our parameters, </a:t>
                </a:r>
                <a14:m>
                  <m:oMath xmlns:m="http://schemas.openxmlformats.org/officeDocument/2006/math">
                    <m:sSub>
                      <m:sSubPr>
                        <m:ctrlPr>
                          <a:rPr lang="en-US" sz="2400" i="1" smtClean="0">
                            <a:latin typeface="Cambria Math" panose="02040503050406030204" pitchFamily="18" charset="0"/>
                          </a:rPr>
                        </m:ctrlPr>
                      </m:sSubPr>
                      <m:e>
                        <m:r>
                          <m:rPr>
                            <m:sty m:val="p"/>
                          </m:rPr>
                          <a:rPr lang="en-US" sz="2400" i="1" smtClean="0">
                            <a:latin typeface="Cambria Math" panose="02040503050406030204" pitchFamily="18" charset="0"/>
                            <a:ea typeface="Cambria Math" panose="02040503050406030204" pitchFamily="18" charset="0"/>
                          </a:rPr>
                          <m:t>∇</m:t>
                        </m:r>
                      </m:e>
                      <m:sub>
                        <m:r>
                          <a:rPr lang="en-US" sz="2400" i="1" smtClean="0">
                            <a:latin typeface="Cambria Math" panose="02040503050406030204" pitchFamily="18" charset="0"/>
                            <a:ea typeface="Cambria Math" panose="02040503050406030204" pitchFamily="18" charset="0"/>
                          </a:rPr>
                          <m:t>𝜃</m:t>
                        </m:r>
                      </m:sub>
                    </m:sSub>
                  </m:oMath>
                </a14:m>
                <a:r>
                  <a:rPr lang="en-US" sz="2400" dirty="0"/>
                  <a:t> , the only part that remains is the action selection. </a:t>
                </a:r>
              </a:p>
              <a:p>
                <a14:m>
                  <m:oMath xmlns:m="http://schemas.openxmlformats.org/officeDocument/2006/math">
                    <m:sSub>
                      <m:sSubPr>
                        <m:ctrlPr>
                          <a:rPr lang="en-US" sz="2400" i="1" smtClean="0">
                            <a:latin typeface="Cambria Math" panose="02040503050406030204" pitchFamily="18" charset="0"/>
                          </a:rPr>
                        </m:ctrlPr>
                      </m:sSubPr>
                      <m:e>
                        <m:r>
                          <m:rPr>
                            <m:sty m:val="p"/>
                          </m:rPr>
                          <a:rPr lang="en-US" sz="2400" i="1" smtClean="0">
                            <a:latin typeface="Cambria Math" panose="02040503050406030204" pitchFamily="18" charset="0"/>
                            <a:ea typeface="Cambria Math" panose="02040503050406030204" pitchFamily="18" charset="0"/>
                          </a:rPr>
                          <m:t>∇</m:t>
                        </m:r>
                      </m:e>
                      <m:sub>
                        <m:r>
                          <a:rPr lang="en-US" sz="2400" i="1" smtClean="0">
                            <a:latin typeface="Cambria Math" panose="02040503050406030204" pitchFamily="18" charset="0"/>
                            <a:ea typeface="Cambria Math" panose="02040503050406030204" pitchFamily="18" charset="0"/>
                          </a:rPr>
                          <m:t>𝜃</m:t>
                        </m:r>
                      </m:sub>
                    </m:sSub>
                    <m:r>
                      <a:rPr lang="en-US" sz="2400" b="0" i="1" smtClean="0">
                        <a:latin typeface="Cambria Math" panose="02040503050406030204" pitchFamily="18" charset="0"/>
                      </a:rPr>
                      <m:t>𝐽</m:t>
                    </m:r>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𝜃</m:t>
                        </m:r>
                      </m:e>
                    </m:d>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𝔼</m:t>
                        </m:r>
                      </m:e>
                      <m:sub>
                        <m:r>
                          <a:rPr lang="en-US" sz="2400" b="0" i="1" smtClean="0">
                            <a:latin typeface="Cambria Math" panose="02040503050406030204" pitchFamily="18" charset="0"/>
                            <a:ea typeface="Cambria Math" panose="02040503050406030204" pitchFamily="18" charset="0"/>
                          </a:rPr>
                          <m:t>𝜋</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𝑅</m:t>
                    </m:r>
                    <m:d>
                      <m:dPr>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𝜏</m:t>
                        </m:r>
                      </m:e>
                    </m:d>
                    <m:d>
                      <m:dPr>
                        <m:ctrlPr>
                          <a:rPr lang="en-US" sz="2400" b="0" i="1" smtClean="0">
                            <a:latin typeface="Cambria Math" panose="02040503050406030204" pitchFamily="18" charset="0"/>
                            <a:ea typeface="Cambria Math" panose="02040503050406030204" pitchFamily="18" charset="0"/>
                          </a:rPr>
                        </m:ctrlPr>
                      </m:dPr>
                      <m:e>
                        <m:nary>
                          <m:naryPr>
                            <m:chr m:val="∑"/>
                            <m:ctrlPr>
                              <a:rPr lang="en-US" sz="2400" b="0" i="1" smtClean="0">
                                <a:latin typeface="Cambria Math" panose="02040503050406030204" pitchFamily="18" charset="0"/>
                                <a:ea typeface="Cambria Math" panose="02040503050406030204" pitchFamily="18" charset="0"/>
                              </a:rPr>
                            </m:ctrlPr>
                          </m:naryPr>
                          <m:sub>
                            <m:r>
                              <m:rPr>
                                <m:brk m:alnAt="23"/>
                              </m:rPr>
                              <a:rPr lang="en-US" sz="2400" b="0" i="1" smtClean="0">
                                <a:latin typeface="Cambria Math" panose="02040503050406030204" pitchFamily="18" charset="0"/>
                                <a:ea typeface="Cambria Math" panose="02040503050406030204" pitchFamily="18" charset="0"/>
                              </a:rPr>
                              <m:t>𝑡</m:t>
                            </m:r>
                            <m:r>
                              <a:rPr lang="en-US" sz="2400" b="0" i="1" smtClean="0">
                                <a:latin typeface="Cambria Math" panose="02040503050406030204" pitchFamily="18" charset="0"/>
                                <a:ea typeface="Cambria Math" panose="02040503050406030204" pitchFamily="18" charset="0"/>
                              </a:rPr>
                              <m:t>=1</m:t>
                            </m:r>
                          </m:sub>
                          <m:sup>
                            <m:r>
                              <a:rPr lang="en-US" sz="2400" b="0" i="1" smtClean="0">
                                <a:latin typeface="Cambria Math" panose="02040503050406030204" pitchFamily="18" charset="0"/>
                                <a:ea typeface="Cambria Math" panose="02040503050406030204" pitchFamily="18" charset="0"/>
                              </a:rPr>
                              <m:t>𝑇</m:t>
                            </m:r>
                          </m:sup>
                          <m:e>
                            <m:r>
                              <m:rPr>
                                <m:sty m:val="p"/>
                              </m:rPr>
                              <a:rPr lang="en-US" sz="2400" b="0" i="0" smtClean="0">
                                <a:latin typeface="Cambria Math" panose="02040503050406030204" pitchFamily="18" charset="0"/>
                                <a:ea typeface="Cambria Math" panose="02040503050406030204" pitchFamily="18" charset="0"/>
                              </a:rPr>
                              <m:t>log</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𝜋</m:t>
                                </m:r>
                              </m:e>
                              <m:sub>
                                <m:r>
                                  <a:rPr lang="en-US" sz="2400" b="0" i="1" smtClean="0">
                                    <a:latin typeface="Cambria Math" panose="02040503050406030204" pitchFamily="18" charset="0"/>
                                    <a:ea typeface="Cambria Math" panose="02040503050406030204" pitchFamily="18" charset="0"/>
                                  </a:rPr>
                                  <m:t>𝜃</m:t>
                                </m:r>
                              </m:sub>
                            </m:sSub>
                            <m:d>
                              <m:dPr>
                                <m:endChr m:val="|"/>
                                <m:ctrlPr>
                                  <a:rPr lang="en-US" sz="2400" b="0" i="1" smtClean="0">
                                    <a:latin typeface="Cambria Math" panose="02040503050406030204" pitchFamily="18" charset="0"/>
                                    <a:ea typeface="Cambria Math" panose="02040503050406030204" pitchFamily="18" charset="0"/>
                                  </a:rPr>
                                </m:ctrlPr>
                              </m:dPr>
                              <m:e>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𝑎</m:t>
                                    </m:r>
                                  </m:e>
                                  <m:sub>
                                    <m:r>
                                      <a:rPr lang="en-US" sz="2400" b="0" i="1" smtClean="0">
                                        <a:latin typeface="Cambria Math" panose="02040503050406030204" pitchFamily="18" charset="0"/>
                                        <a:ea typeface="Cambria Math" panose="02040503050406030204" pitchFamily="18" charset="0"/>
                                      </a:rPr>
                                      <m:t>𝑡</m:t>
                                    </m:r>
                                  </m:sub>
                                </m:sSub>
                                <m:r>
                                  <a:rPr lang="en-US" sz="2400" b="0" i="1" smtClean="0">
                                    <a:latin typeface="Cambria Math" panose="02040503050406030204" pitchFamily="18" charset="0"/>
                                    <a:ea typeface="Cambria Math" panose="02040503050406030204" pitchFamily="18" charset="0"/>
                                  </a:rPr>
                                  <m:t> </m:t>
                                </m:r>
                              </m:e>
                            </m:d>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𝑠</m:t>
                                </m:r>
                              </m:e>
                              <m:sub>
                                <m:r>
                                  <a:rPr lang="en-US" sz="2400" b="0" i="1" smtClean="0">
                                    <a:latin typeface="Cambria Math" panose="02040503050406030204" pitchFamily="18" charset="0"/>
                                    <a:ea typeface="Cambria Math" panose="02040503050406030204" pitchFamily="18" charset="0"/>
                                  </a:rPr>
                                  <m:t>𝑡</m:t>
                                </m:r>
                              </m:sub>
                            </m:sSub>
                          </m:e>
                        </m:nary>
                      </m:e>
                    </m:d>
                    <m:r>
                      <a:rPr lang="en-US" sz="2400" b="0" i="1" smtClean="0">
                        <a:latin typeface="Cambria Math" panose="02040503050406030204" pitchFamily="18" charset="0"/>
                        <a:ea typeface="Cambria Math" panose="02040503050406030204" pitchFamily="18" charset="0"/>
                      </a:rPr>
                      <m:t>)]</m:t>
                    </m:r>
                  </m:oMath>
                </a14:m>
                <a:endParaRPr lang="en-US" sz="2400" dirty="0"/>
              </a:p>
              <a:p>
                <a:r>
                  <a:rPr lang="en-US" sz="2400" dirty="0"/>
                  <a:t>Often estimate this by sampling one or multiple trajectories </a:t>
                </a:r>
              </a:p>
              <a:p>
                <a14:m>
                  <m:oMath xmlns:m="http://schemas.openxmlformats.org/officeDocument/2006/math">
                    <m:r>
                      <a:rPr lang="en-US" sz="240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𝛼</m:t>
                    </m:r>
                    <m:r>
                      <a:rPr lang="en-US" sz="2400" b="0" i="1" smtClean="0">
                        <a:latin typeface="Cambria Math" panose="02040503050406030204" pitchFamily="18" charset="0"/>
                        <a:ea typeface="Cambria Math" panose="02040503050406030204" pitchFamily="18" charset="0"/>
                      </a:rPr>
                      <m:t> </m:t>
                    </m:r>
                    <m:sSub>
                      <m:sSubPr>
                        <m:ctrlPr>
                          <a:rPr lang="en-US" sz="2400" b="0" i="1" smtClean="0">
                            <a:latin typeface="Cambria Math" panose="02040503050406030204" pitchFamily="18" charset="0"/>
                            <a:ea typeface="Cambria Math" panose="02040503050406030204" pitchFamily="18" charset="0"/>
                          </a:rPr>
                        </m:ctrlPr>
                      </m:sSubPr>
                      <m:e>
                        <m:r>
                          <m:rPr>
                            <m:sty m:val="p"/>
                          </m:rPr>
                          <a:rPr lang="en-US" sz="2400" b="0" i="1" smtClean="0">
                            <a:latin typeface="Cambria Math" panose="02040503050406030204" pitchFamily="18" charset="0"/>
                            <a:ea typeface="Cambria Math" panose="02040503050406030204" pitchFamily="18" charset="0"/>
                          </a:rPr>
                          <m:t>∇</m:t>
                        </m:r>
                      </m:e>
                      <m:sub>
                        <m:r>
                          <a:rPr lang="en-US" sz="2400" b="0" i="1" smtClean="0">
                            <a:latin typeface="Cambria Math" panose="02040503050406030204" pitchFamily="18" charset="0"/>
                            <a:ea typeface="Cambria Math" panose="02040503050406030204" pitchFamily="18" charset="0"/>
                          </a:rPr>
                          <m:t>𝜃</m:t>
                        </m:r>
                      </m:sub>
                    </m:sSub>
                    <m:r>
                      <a:rPr lang="en-US" sz="2400" b="0" i="1" smtClean="0">
                        <a:latin typeface="Cambria Math" panose="02040503050406030204" pitchFamily="18" charset="0"/>
                        <a:ea typeface="Cambria Math" panose="02040503050406030204" pitchFamily="18" charset="0"/>
                      </a:rPr>
                      <m:t>𝐽</m:t>
                    </m:r>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𝜃</m:t>
                    </m:r>
                    <m:r>
                      <a:rPr lang="en-US" sz="2400" b="0" i="1" smtClean="0">
                        <a:latin typeface="Cambria Math" panose="02040503050406030204" pitchFamily="18" charset="0"/>
                        <a:ea typeface="Cambria Math" panose="02040503050406030204" pitchFamily="18" charset="0"/>
                      </a:rPr>
                      <m:t>)</m:t>
                    </m:r>
                  </m:oMath>
                </a14:m>
                <a:r>
                  <a:rPr lang="en-US" sz="2400" dirty="0"/>
                  <a:t> </a:t>
                </a:r>
              </a:p>
            </p:txBody>
          </p:sp>
        </mc:Choice>
        <mc:Fallback>
          <p:sp>
            <p:nvSpPr>
              <p:cNvPr id="3" name="Content Placeholder 2">
                <a:extLst>
                  <a:ext uri="{FF2B5EF4-FFF2-40B4-BE49-F238E27FC236}">
                    <a16:creationId xmlns:a16="http://schemas.microsoft.com/office/drawing/2014/main" id="{A6ECC32E-AFA8-78E2-1F99-26349A60A890}"/>
                  </a:ext>
                </a:extLst>
              </p:cNvPr>
              <p:cNvSpPr>
                <a:spLocks noGrp="1" noRot="1" noChangeAspect="1" noMove="1" noResize="1" noEditPoints="1" noAdjustHandles="1" noChangeArrowheads="1" noChangeShapeType="1" noTextEdit="1"/>
              </p:cNvSpPr>
              <p:nvPr>
                <p:ph idx="1"/>
              </p:nvPr>
            </p:nvSpPr>
            <p:spPr>
              <a:blipFill>
                <a:blip r:embed="rId2"/>
                <a:stretch>
                  <a:fillRect l="-328" t="-11382"/>
                </a:stretch>
              </a:blipFill>
            </p:spPr>
            <p:txBody>
              <a:bodyPr/>
              <a:lstStyle/>
              <a:p>
                <a:r>
                  <a:rPr lang="en-US">
                    <a:noFill/>
                  </a:rPr>
                  <a:t> </a:t>
                </a:r>
              </a:p>
            </p:txBody>
          </p:sp>
        </mc:Fallback>
      </mc:AlternateContent>
    </p:spTree>
    <p:extLst>
      <p:ext uri="{BB962C8B-B14F-4D97-AF65-F5344CB8AC3E}">
        <p14:creationId xmlns:p14="http://schemas.microsoft.com/office/powerpoint/2010/main" val="9718471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2E707-AC74-96CA-B4C7-184E20F12F05}"/>
              </a:ext>
            </a:extLst>
          </p:cNvPr>
          <p:cNvSpPr>
            <a:spLocks noGrp="1"/>
          </p:cNvSpPr>
          <p:nvPr>
            <p:ph type="title"/>
          </p:nvPr>
        </p:nvSpPr>
        <p:spPr/>
        <p:txBody>
          <a:bodyPr/>
          <a:lstStyle/>
          <a:p>
            <a:r>
              <a:rPr lang="en-US" dirty="0"/>
              <a:t>Actor Critic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114D437-40E9-7D7B-B150-CF6E65B09439}"/>
                  </a:ext>
                </a:extLst>
              </p:cNvPr>
              <p:cNvSpPr>
                <a:spLocks noGrp="1"/>
              </p:cNvSpPr>
              <p:nvPr>
                <p:ph idx="1"/>
              </p:nvPr>
            </p:nvSpPr>
            <p:spPr/>
            <p:txBody>
              <a:bodyPr/>
              <a:lstStyle/>
              <a:p>
                <a14:m>
                  <m:oMath xmlns:m="http://schemas.openxmlformats.org/officeDocument/2006/math">
                    <m:sSub>
                      <m:sSubPr>
                        <m:ctrlPr>
                          <a:rPr lang="en-US" i="1" smtClean="0">
                            <a:latin typeface="Cambria Math" panose="02040503050406030204" pitchFamily="18" charset="0"/>
                          </a:rPr>
                        </m:ctrlPr>
                      </m:sSubPr>
                      <m:e>
                        <m:r>
                          <m:rPr>
                            <m:sty m:val="p"/>
                          </m:rPr>
                          <a:rPr lang="en-US" i="1" smtClean="0">
                            <a:latin typeface="Cambria Math" panose="02040503050406030204" pitchFamily="18" charset="0"/>
                            <a:ea typeface="Cambria Math" panose="02040503050406030204" pitchFamily="18" charset="0"/>
                          </a:rPr>
                          <m:t>∇</m:t>
                        </m:r>
                      </m:e>
                      <m:sub>
                        <m:r>
                          <a:rPr lang="en-US"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rPr>
                      <m:t>𝐽</m:t>
                    </m:r>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m:rPr>
                            <m:sty m:val="p"/>
                          </m:rP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𝜃</m:t>
                        </m:r>
                      </m:sub>
                    </m:sSub>
                    <m:func>
                      <m:funcPr>
                        <m:ctrlPr>
                          <a:rPr lang="en-US" b="0" i="1" smtClean="0">
                            <a:latin typeface="Cambria Math" panose="02040503050406030204" pitchFamily="18" charset="0"/>
                            <a:ea typeface="Cambria Math" panose="02040503050406030204" pitchFamily="18" charset="0"/>
                          </a:rPr>
                        </m:ctrlPr>
                      </m:funcPr>
                      <m:fName>
                        <m:r>
                          <m:rPr>
                            <m:sty m:val="p"/>
                          </m:rPr>
                          <a:rPr lang="en-US" b="0" i="0" smtClean="0">
                            <a:latin typeface="Cambria Math" panose="02040503050406030204" pitchFamily="18" charset="0"/>
                            <a:ea typeface="Cambria Math" panose="02040503050406030204" pitchFamily="18" charset="0"/>
                          </a:rPr>
                          <m:t>log</m:t>
                        </m:r>
                      </m:fName>
                      <m:e>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𝜋</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𝑎</m:t>
                                </m:r>
                              </m:e>
                              <m:e>
                                <m:r>
                                  <a:rPr lang="en-US" b="0" i="1" smtClean="0">
                                    <a:latin typeface="Cambria Math" panose="02040503050406030204" pitchFamily="18" charset="0"/>
                                    <a:ea typeface="Cambria Math" panose="02040503050406030204" pitchFamily="18" charset="0"/>
                                  </a:rPr>
                                  <m:t>𝑠</m:t>
                                </m:r>
                              </m:e>
                            </m:d>
                          </m:e>
                        </m:d>
                      </m:e>
                    </m:func>
                    <m:r>
                      <a:rPr lang="en-US" b="0" i="1" smtClean="0">
                        <a:latin typeface="Cambria Math" panose="02040503050406030204" pitchFamily="18" charset="0"/>
                        <a:ea typeface="Cambria Math" panose="02040503050406030204" pitchFamily="18" charset="0"/>
                      </a:rPr>
                      <m:t>𝑄</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m:t>
                    </m:r>
                    <m:r>
                      <a:rPr lang="en-US" b="0" i="1" smtClean="0">
                        <a:latin typeface="Cambria Math" panose="02040503050406030204" pitchFamily="18" charset="0"/>
                        <a:ea typeface="Cambria Math" panose="02040503050406030204" pitchFamily="18" charset="0"/>
                      </a:rPr>
                      <m:t>)</m:t>
                    </m:r>
                  </m:oMath>
                </a14:m>
                <a:endParaRPr lang="en-US" dirty="0"/>
              </a:p>
              <a:p>
                <a:r>
                  <a:rPr lang="en-US" dirty="0"/>
                  <a:t>Replace </a:t>
                </a:r>
                <a14:m>
                  <m:oMath xmlns:m="http://schemas.openxmlformats.org/officeDocument/2006/math">
                    <m:r>
                      <a:rPr lang="en-US" b="0" i="1" smtClean="0">
                        <a:latin typeface="Cambria Math" panose="02040503050406030204" pitchFamily="18" charset="0"/>
                      </a:rPr>
                      <m:t>𝑅</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𝜏</m:t>
                    </m:r>
                    <m:r>
                      <a:rPr lang="en-US" b="0" i="1" smtClean="0">
                        <a:latin typeface="Cambria Math" panose="02040503050406030204" pitchFamily="18" charset="0"/>
                        <a:ea typeface="Cambria Math" panose="02040503050406030204" pitchFamily="18" charset="0"/>
                      </a:rPr>
                      <m:t>)</m:t>
                    </m:r>
                  </m:oMath>
                </a14:m>
                <a:r>
                  <a:rPr lang="en-US" dirty="0"/>
                  <a:t> with </a:t>
                </a:r>
                <a14:m>
                  <m:oMath xmlns:m="http://schemas.openxmlformats.org/officeDocument/2006/math">
                    <m:r>
                      <a:rPr lang="en-US" i="1">
                        <a:latin typeface="Cambria Math" panose="02040503050406030204" pitchFamily="18" charset="0"/>
                        <a:ea typeface="Cambria Math" panose="02040503050406030204" pitchFamily="18" charset="0"/>
                      </a:rPr>
                      <m:t>𝑄</m:t>
                    </m:r>
                    <m:d>
                      <m:dPr>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𝑎</m:t>
                        </m:r>
                      </m:e>
                    </m:d>
                  </m:oMath>
                </a14:m>
                <a:endParaRPr lang="en-US" dirty="0">
                  <a:ea typeface="Cambria Math" panose="02040503050406030204" pitchFamily="18" charset="0"/>
                </a:endParaRPr>
              </a:p>
              <a:p>
                <a:r>
                  <a:rPr lang="en-US" dirty="0"/>
                  <a:t>Train one network to learn policies, one to learn Q(s,a) values</a:t>
                </a:r>
              </a:p>
              <a:p>
                <a:r>
                  <a:rPr lang="en-US" dirty="0"/>
                  <a:t>Critic loss =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m:t>
                        </m:r>
                      </m:den>
                    </m:f>
                    <m:r>
                      <a:rPr lang="en-US" b="0" i="1" smtClean="0">
                        <a:latin typeface="Cambria Math" panose="02040503050406030204" pitchFamily="18" charset="0"/>
                      </a:rPr>
                      <m:t>(</m:t>
                    </m:r>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𝑚𝑎𝑥</m:t>
                        </m:r>
                      </m:e>
                      <m:sub>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sub>
                    </m:sSub>
                    <m:r>
                      <a:rPr lang="en-US" b="0" i="1" smtClean="0">
                        <a:latin typeface="Cambria Math" panose="02040503050406030204" pitchFamily="18" charset="0"/>
                      </a:rPr>
                      <m:t>(</m:t>
                    </m:r>
                    <m:r>
                      <a:rPr lang="en-US" b="0" i="1" smtClean="0">
                        <a:latin typeface="Cambria Math" panose="02040503050406030204" pitchFamily="18" charset="0"/>
                      </a:rPr>
                      <m:t>𝑄</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𝑎</m:t>
                            </m:r>
                          </m:e>
                          <m:sup>
                            <m:r>
                              <a:rPr lang="en-US" b="0" i="1" smtClean="0">
                                <a:latin typeface="Cambria Math" panose="02040503050406030204" pitchFamily="18" charset="0"/>
                              </a:rPr>
                              <m:t>′</m:t>
                            </m:r>
                          </m:sup>
                        </m:sSup>
                      </m:e>
                    </m:d>
                    <m:r>
                      <a:rPr lang="en-US" b="0" i="1" smtClean="0">
                        <a:latin typeface="Cambria Math" panose="02040503050406030204" pitchFamily="18" charset="0"/>
                      </a:rPr>
                      <m:t>−</m:t>
                    </m:r>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e>
                      <m:sup>
                        <m:r>
                          <a:rPr lang="en-US" b="0" i="1" smtClean="0">
                            <a:latin typeface="Cambria Math" panose="02040503050406030204" pitchFamily="18" charset="0"/>
                          </a:rPr>
                          <m:t>2</m:t>
                        </m:r>
                      </m:sup>
                    </m:sSup>
                  </m:oMath>
                </a14:m>
                <a:endParaRPr lang="en-US" dirty="0"/>
              </a:p>
              <a:p>
                <a:r>
                  <a:rPr lang="en-US" dirty="0"/>
                  <a:t>Policy loss = </a:t>
                </a:r>
                <a14:m>
                  <m:oMath xmlns:m="http://schemas.openxmlformats.org/officeDocument/2006/math">
                    <m:sSub>
                      <m:sSubPr>
                        <m:ctrlPr>
                          <a:rPr lang="en-US" i="1" smtClean="0">
                            <a:latin typeface="Cambria Math" panose="02040503050406030204" pitchFamily="18" charset="0"/>
                          </a:rPr>
                        </m:ctrlPr>
                      </m:sSubPr>
                      <m:e>
                        <m:r>
                          <m:rPr>
                            <m:sty m:val="p"/>
                          </m:rPr>
                          <a:rPr lang="en-US" i="1" smtClean="0">
                            <a:latin typeface="Cambria Math" panose="02040503050406030204" pitchFamily="18" charset="0"/>
                            <a:ea typeface="Cambria Math" panose="02040503050406030204" pitchFamily="18" charset="0"/>
                          </a:rPr>
                          <m:t>∇</m:t>
                        </m:r>
                      </m:e>
                      <m:sub>
                        <m:r>
                          <a:rPr lang="en-US" i="1" smtClean="0">
                            <a:latin typeface="Cambria Math" panose="02040503050406030204" pitchFamily="18" charset="0"/>
                            <a:ea typeface="Cambria Math" panose="02040503050406030204" pitchFamily="18" charset="0"/>
                          </a:rPr>
                          <m:t>𝜃</m:t>
                        </m:r>
                      </m:sub>
                    </m:sSub>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e>
                        </m:d>
                      </m:e>
                    </m:func>
                    <m:r>
                      <a:rPr lang="en-US" b="0" i="1" smtClean="0">
                        <a:latin typeface="Cambria Math" panose="02040503050406030204" pitchFamily="18" charset="0"/>
                      </a:rPr>
                      <m:t>𝑄</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oMath>
                </a14:m>
                <a:endParaRPr lang="en-US" dirty="0"/>
              </a:p>
              <a:p>
                <a:r>
                  <a:rPr lang="en-US" dirty="0"/>
                  <a:t>Can make policy loss based on </a:t>
                </a:r>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𝑉</m:t>
                        </m:r>
                      </m:e>
                      <m:sup>
                        <m:r>
                          <a:rPr lang="en-US" i="1" smtClean="0">
                            <a:latin typeface="Cambria Math" panose="02040503050406030204" pitchFamily="18" charset="0"/>
                            <a:ea typeface="Cambria Math" panose="02040503050406030204" pitchFamily="18" charset="0"/>
                          </a:rPr>
                          <m:t>𝜋</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instead for on policy behavior </a:t>
                </a:r>
              </a:p>
            </p:txBody>
          </p:sp>
        </mc:Choice>
        <mc:Fallback xmlns="">
          <p:sp>
            <p:nvSpPr>
              <p:cNvPr id="3" name="Content Placeholder 2">
                <a:extLst>
                  <a:ext uri="{FF2B5EF4-FFF2-40B4-BE49-F238E27FC236}">
                    <a16:creationId xmlns:a16="http://schemas.microsoft.com/office/drawing/2014/main" id="{B114D437-40E9-7D7B-B150-CF6E65B09439}"/>
                  </a:ext>
                </a:extLst>
              </p:cNvPr>
              <p:cNvSpPr>
                <a:spLocks noGrp="1" noRot="1" noChangeAspect="1" noMove="1" noResize="1" noEditPoints="1" noAdjustHandles="1" noChangeArrowheads="1" noChangeShapeType="1" noTextEdit="1"/>
              </p:cNvSpPr>
              <p:nvPr>
                <p:ph idx="1"/>
              </p:nvPr>
            </p:nvSpPr>
            <p:spPr>
              <a:blipFill>
                <a:blip r:embed="rId2"/>
                <a:stretch>
                  <a:fillRect l="-1086" t="-872"/>
                </a:stretch>
              </a:blipFill>
            </p:spPr>
            <p:txBody>
              <a:bodyPr/>
              <a:lstStyle/>
              <a:p>
                <a:r>
                  <a:rPr lang="en-US">
                    <a:noFill/>
                  </a:rPr>
                  <a:t> </a:t>
                </a:r>
              </a:p>
            </p:txBody>
          </p:sp>
        </mc:Fallback>
      </mc:AlternateContent>
    </p:spTree>
    <p:extLst>
      <p:ext uri="{BB962C8B-B14F-4D97-AF65-F5344CB8AC3E}">
        <p14:creationId xmlns:p14="http://schemas.microsoft.com/office/powerpoint/2010/main" val="914082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572CD83-DFEB-60BA-1331-7547E0A8D76F}"/>
              </a:ext>
            </a:extLst>
          </p:cNvPr>
          <p:cNvPicPr>
            <a:picLocks noGrp="1" noChangeAspect="1"/>
          </p:cNvPicPr>
          <p:nvPr>
            <p:ph idx="1"/>
          </p:nvPr>
        </p:nvPicPr>
        <p:blipFill>
          <a:blip r:embed="rId2"/>
          <a:stretch>
            <a:fillRect/>
          </a:stretch>
        </p:blipFill>
        <p:spPr>
          <a:xfrm>
            <a:off x="1158787" y="643466"/>
            <a:ext cx="9874425" cy="5571067"/>
          </a:xfrm>
          <a:prstGeom prst="rect">
            <a:avLst/>
          </a:prstGeom>
        </p:spPr>
      </p:pic>
    </p:spTree>
    <p:extLst>
      <p:ext uri="{BB962C8B-B14F-4D97-AF65-F5344CB8AC3E}">
        <p14:creationId xmlns:p14="http://schemas.microsoft.com/office/powerpoint/2010/main" val="42076336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225DF-8B7B-6A6E-8FAC-12C32A4EC862}"/>
              </a:ext>
            </a:extLst>
          </p:cNvPr>
          <p:cNvSpPr>
            <a:spLocks noGrp="1"/>
          </p:cNvSpPr>
          <p:nvPr>
            <p:ph type="title"/>
          </p:nvPr>
        </p:nvSpPr>
        <p:spPr/>
        <p:txBody>
          <a:bodyPr/>
          <a:lstStyle/>
          <a:p>
            <a:r>
              <a:rPr lang="en-US" dirty="0"/>
              <a:t>A3C ( Asynchronous Advantage Actor Critic )</a:t>
            </a:r>
          </a:p>
        </p:txBody>
      </p:sp>
      <p:sp>
        <p:nvSpPr>
          <p:cNvPr id="3" name="Content Placeholder 2">
            <a:extLst>
              <a:ext uri="{FF2B5EF4-FFF2-40B4-BE49-F238E27FC236}">
                <a16:creationId xmlns:a16="http://schemas.microsoft.com/office/drawing/2014/main" id="{0D77B595-6F81-0DDF-E3F7-4924CCD3F96A}"/>
              </a:ext>
            </a:extLst>
          </p:cNvPr>
          <p:cNvSpPr>
            <a:spLocks noGrp="1"/>
          </p:cNvSpPr>
          <p:nvPr>
            <p:ph idx="1"/>
          </p:nvPr>
        </p:nvSpPr>
        <p:spPr/>
        <p:txBody>
          <a:bodyPr/>
          <a:lstStyle/>
          <a:p>
            <a:r>
              <a:rPr lang="en-US" dirty="0"/>
              <a:t>Spawn multiple worker threads each containing parameters for agents </a:t>
            </a:r>
          </a:p>
          <a:p>
            <a:r>
              <a:rPr lang="en-US" dirty="0"/>
              <a:t>Workers run episodes independently, if it finishes it passes gradients to manager agent</a:t>
            </a:r>
          </a:p>
          <a:p>
            <a:r>
              <a:rPr lang="en-US" dirty="0"/>
              <a:t>Manger updates critic and actor networks, passes new parameters and sends agent off once again</a:t>
            </a:r>
          </a:p>
          <a:p>
            <a:pPr marL="0" indent="0">
              <a:buNone/>
            </a:pPr>
            <a:r>
              <a:rPr lang="en-US" dirty="0"/>
              <a:t> </a:t>
            </a:r>
          </a:p>
          <a:p>
            <a:endParaRPr lang="en-US" dirty="0"/>
          </a:p>
        </p:txBody>
      </p:sp>
    </p:spTree>
    <p:extLst>
      <p:ext uri="{BB962C8B-B14F-4D97-AF65-F5344CB8AC3E}">
        <p14:creationId xmlns:p14="http://schemas.microsoft.com/office/powerpoint/2010/main" val="18361649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D70E3-3F24-66D0-908A-04337BA0F083}"/>
              </a:ext>
            </a:extLst>
          </p:cNvPr>
          <p:cNvSpPr>
            <a:spLocks noGrp="1"/>
          </p:cNvSpPr>
          <p:nvPr>
            <p:ph type="title"/>
          </p:nvPr>
        </p:nvSpPr>
        <p:spPr/>
        <p:txBody>
          <a:bodyPr/>
          <a:lstStyle/>
          <a:p>
            <a:r>
              <a:rPr lang="en-US" dirty="0"/>
              <a:t>PPO ( Proximal Policy Optimization )</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3D359AC-1621-57C0-15B2-2A8513037BA0}"/>
                  </a:ext>
                </a:extLst>
              </p:cNvPr>
              <p:cNvSpPr>
                <a:spLocks noGrp="1"/>
              </p:cNvSpPr>
              <p:nvPr>
                <p:ph idx="1"/>
              </p:nvPr>
            </p:nvSpPr>
            <p:spPr/>
            <p:txBody>
              <a:bodyPr>
                <a:normAutofit fontScale="92500" lnSpcReduction="10000"/>
              </a:bodyPr>
              <a:lstStyle/>
              <a:p>
                <a14:m>
                  <m:oMath xmlns:m="http://schemas.openxmlformats.org/officeDocument/2006/math">
                    <m:sSubSup>
                      <m:sSubSupPr>
                        <m:ctrlPr>
                          <a:rPr lang="en-US" i="1" smtClean="0">
                            <a:latin typeface="Cambria Math" panose="02040503050406030204" pitchFamily="18" charset="0"/>
                          </a:rPr>
                        </m:ctrlPr>
                      </m:sSubSupPr>
                      <m:e>
                        <m:r>
                          <a:rPr lang="en-US" b="0" i="1" smtClean="0">
                            <a:latin typeface="Cambria Math" panose="02040503050406030204" pitchFamily="18" charset="0"/>
                          </a:rPr>
                          <m:t>𝐽</m:t>
                        </m:r>
                      </m:e>
                      <m:sub>
                        <m:r>
                          <a:rPr lang="en-US" i="1" smtClean="0">
                            <a:latin typeface="Cambria Math" panose="02040503050406030204" pitchFamily="18" charset="0"/>
                            <a:ea typeface="Cambria Math" panose="02040503050406030204" pitchFamily="18" charset="0"/>
                          </a:rPr>
                          <m:t>𝜃</m:t>
                        </m:r>
                      </m:sub>
                      <m:sup>
                        <m:r>
                          <a:rPr lang="en-US" b="0" i="1" smtClean="0">
                            <a:latin typeface="Cambria Math" panose="02040503050406030204" pitchFamily="18" charset="0"/>
                          </a:rPr>
                          <m:t>𝑐𝑙𝑖𝑝</m:t>
                        </m:r>
                      </m:sup>
                    </m:sSubSup>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𝔼</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m:rPr>
                        <m:sty m:val="p"/>
                      </m:rPr>
                      <a:rPr lang="en-US" b="0" i="0" smtClean="0">
                        <a:latin typeface="Cambria Math" panose="02040503050406030204" pitchFamily="18" charset="0"/>
                      </a:rPr>
                      <m:t>min</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  </m:t>
                    </m:r>
                    <m:r>
                      <a:rPr lang="en-US" b="0" i="1" smtClean="0">
                        <a:latin typeface="Cambria Math" panose="02040503050406030204" pitchFamily="18" charset="0"/>
                      </a:rPr>
                      <m:t>𝑐𝑙𝑖𝑝</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d>
                        <m:r>
                          <a:rPr lang="en-US" b="0" i="1" smtClean="0">
                            <a:latin typeface="Cambria Math" panose="02040503050406030204" pitchFamily="18" charset="0"/>
                            <a:ea typeface="Cambria Math" panose="02040503050406030204" pitchFamily="18" charset="0"/>
                          </a:rPr>
                          <m:t>, 1 − </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 1 + </m:t>
                        </m:r>
                        <m:r>
                          <a:rPr lang="en-US" b="0" i="1" smtClean="0">
                            <a:latin typeface="Cambria Math" panose="02040503050406030204" pitchFamily="18" charset="0"/>
                            <a:ea typeface="Cambria Math" panose="02040503050406030204" pitchFamily="18" charset="0"/>
                          </a:rPr>
                          <m:t>𝜖</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m:t>
                    </m:r>
                  </m:oMath>
                </a14:m>
                <a:endParaRPr lang="en-US" dirty="0"/>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d>
                          <m:dPr>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𝑎</m:t>
                                </m:r>
                              </m:e>
                              <m:sub>
                                <m:r>
                                  <a:rPr lang="en-US" b="0" i="1" smtClean="0">
                                    <a:latin typeface="Cambria Math" panose="02040503050406030204" pitchFamily="18" charset="0"/>
                                  </a:rPr>
                                  <m:t>𝑡</m:t>
                                </m:r>
                              </m:sub>
                            </m:sSub>
                            <m:r>
                              <a:rPr lang="en-US" b="0" i="1" smtClean="0">
                                <a:latin typeface="Cambria Math" panose="02040503050406030204" pitchFamily="18" charset="0"/>
                              </a:rPr>
                              <m:t> </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𝑡</m:t>
                            </m:r>
                          </m:sub>
                        </m:sSub>
                        <m:r>
                          <a:rPr lang="en-US" b="0" i="1" smtClean="0">
                            <a:latin typeface="Cambria Math" panose="02040503050406030204" pitchFamily="18" charset="0"/>
                          </a:rPr>
                          <m:t>)</m:t>
                        </m:r>
                      </m:num>
                      <m:den>
                        <m:sSub>
                          <m:sSubPr>
                            <m:ctrlPr>
                              <a:rPr lang="en-US" i="1">
                                <a:latin typeface="Cambria Math" panose="02040503050406030204" pitchFamily="18" charset="0"/>
                              </a:rPr>
                            </m:ctrlPr>
                          </m:sSubPr>
                          <m:e>
                            <m:r>
                              <a:rPr lang="en-US" i="1">
                                <a:latin typeface="Cambria Math" panose="02040503050406030204" pitchFamily="18" charset="0"/>
                                <a:ea typeface="Cambria Math" panose="02040503050406030204" pitchFamily="18" charset="0"/>
                              </a:rPr>
                              <m:t>𝜋</m:t>
                            </m:r>
                          </m:e>
                          <m:sub>
                            <m:r>
                              <a:rPr lang="en-US" i="1">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𝑜𝑙𝑑</m:t>
                            </m:r>
                          </m:sub>
                        </m:sSub>
                        <m:d>
                          <m:dPr>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𝑎</m:t>
                                </m:r>
                              </m:e>
                              <m:sub>
                                <m:r>
                                  <a:rPr lang="en-US" i="1">
                                    <a:latin typeface="Cambria Math" panose="02040503050406030204" pitchFamily="18" charset="0"/>
                                  </a:rPr>
                                  <m:t>𝑡</m:t>
                                </m:r>
                              </m:sub>
                            </m:sSub>
                            <m:r>
                              <a:rPr lang="en-US" i="1">
                                <a:latin typeface="Cambria Math" panose="02040503050406030204" pitchFamily="18" charset="0"/>
                              </a:rPr>
                              <m:t> </m:t>
                            </m:r>
                          </m:e>
                        </m:d>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𝑡</m:t>
                            </m:r>
                          </m:sub>
                        </m:sSub>
                        <m:r>
                          <a:rPr lang="en-US" i="1">
                            <a:latin typeface="Cambria Math" panose="02040503050406030204" pitchFamily="18" charset="0"/>
                          </a:rPr>
                          <m:t>)</m:t>
                        </m:r>
                      </m:den>
                    </m:f>
                  </m:oMath>
                </a14:m>
                <a:r>
                  <a:rPr lang="en-US" dirty="0"/>
                  <a:t>  is the ratio between the new and old policy </a:t>
                </a:r>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rPr>
                          <m:t>𝑡</m:t>
                        </m:r>
                      </m:sub>
                    </m:sSub>
                    <m:r>
                      <a:rPr lang="en-US" b="0" i="1" smtClean="0">
                        <a:latin typeface="Cambria Math" panose="02040503050406030204" pitchFamily="18" charset="0"/>
                      </a:rPr>
                      <m:t>+</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𝛾𝜆</m:t>
                        </m:r>
                      </m:e>
                    </m:d>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𝛾𝜆</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𝑇</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𝑡</m:t>
                        </m:r>
                        <m:r>
                          <a:rPr lang="en-US" b="0" i="1" smtClean="0">
                            <a:latin typeface="Cambria Math" panose="02040503050406030204" pitchFamily="18" charset="0"/>
                            <a:ea typeface="Cambria Math" panose="02040503050406030204" pitchFamily="18" charset="0"/>
                          </a:rPr>
                          <m:t>+1</m:t>
                        </m:r>
                      </m:sup>
                    </m:sSup>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𝛿</m:t>
                        </m:r>
                      </m:e>
                      <m:sub>
                        <m:r>
                          <a:rPr lang="en-US" b="0" i="1" smtClean="0">
                            <a:latin typeface="Cambria Math" panose="02040503050406030204" pitchFamily="18" charset="0"/>
                            <a:ea typeface="Cambria Math" panose="02040503050406030204" pitchFamily="18" charset="0"/>
                          </a:rPr>
                          <m:t>𝑇</m:t>
                        </m:r>
                        <m:r>
                          <a:rPr lang="en-US" b="0" i="1" smtClean="0">
                            <a:latin typeface="Cambria Math" panose="02040503050406030204" pitchFamily="18" charset="0"/>
                            <a:ea typeface="Cambria Math" panose="02040503050406030204" pitchFamily="18" charset="0"/>
                          </a:rPr>
                          <m:t>−1</m:t>
                        </m:r>
                      </m:sub>
                    </m:sSub>
                  </m:oMath>
                </a14:m>
                <a:r>
                  <a:rPr lang="en-US" dirty="0"/>
                  <a:t> </a:t>
                </a:r>
              </a:p>
              <a:p>
                <a:r>
                  <a:rPr lang="en-US" dirty="0"/>
                  <a:t>Clip objective in a way defines a trust region</a:t>
                </a:r>
              </a:p>
              <a:p>
                <a:r>
                  <a:rPr lang="en-US" dirty="0"/>
                  <a:t>Encourages ratio of old policy to be around </a:t>
                </a:r>
                <a14:m>
                  <m:oMath xmlns:m="http://schemas.openxmlformats.org/officeDocument/2006/math">
                    <m:r>
                      <a:rPr lang="en-US" b="0" i="1" smtClean="0">
                        <a:latin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 1+</m:t>
                    </m:r>
                    <m: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rPr>
                      <m:t>]</m:t>
                    </m:r>
                  </m:oMath>
                </a14:m>
                <a:endParaRPr lang="en-US" dirty="0"/>
              </a:p>
              <a:p>
                <a:r>
                  <a:rPr lang="en-US" dirty="0"/>
                  <a:t>When examining this function, two things control it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d>
                      <m:dPr>
                        <m:ctrlPr>
                          <a:rPr lang="en-US" b="0" i="1" smtClean="0">
                            <a:latin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𝜃</m:t>
                        </m:r>
                      </m:e>
                    </m:d>
                  </m:oMath>
                </a14:m>
                <a:r>
                  <a:rPr lang="en-US" dirty="0"/>
                  <a:t> and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endParaRPr lang="en-US" dirty="0"/>
              </a:p>
              <a:p>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r>
                          <a:rPr lang="en-US" b="0" i="1" smtClean="0">
                            <a:latin typeface="Cambria Math" panose="02040503050406030204" pitchFamily="18" charset="0"/>
                          </a:rPr>
                          <m:t> </m:t>
                        </m:r>
                      </m:sub>
                    </m:sSub>
                  </m:oMath>
                </a14:m>
                <a:r>
                  <a:rPr lang="en-US" dirty="0"/>
                  <a:t>can be positive or negative</a:t>
                </a:r>
              </a:p>
              <a:p>
                <a:r>
                  <a:rPr lang="en-US" dirty="0"/>
                  <a:t>Still kind of use an actor-critic framework</a:t>
                </a:r>
              </a:p>
              <a:p>
                <a:endParaRPr lang="en-US" dirty="0"/>
              </a:p>
              <a:p>
                <a:endParaRPr lang="en-US" dirty="0"/>
              </a:p>
            </p:txBody>
          </p:sp>
        </mc:Choice>
        <mc:Fallback>
          <p:sp>
            <p:nvSpPr>
              <p:cNvPr id="3" name="Content Placeholder 2">
                <a:extLst>
                  <a:ext uri="{FF2B5EF4-FFF2-40B4-BE49-F238E27FC236}">
                    <a16:creationId xmlns:a16="http://schemas.microsoft.com/office/drawing/2014/main" id="{23D359AC-1621-57C0-15B2-2A8513037BA0}"/>
                  </a:ext>
                </a:extLst>
              </p:cNvPr>
              <p:cNvSpPr>
                <a:spLocks noGrp="1" noRot="1" noChangeAspect="1" noMove="1" noResize="1" noEditPoints="1" noAdjustHandles="1" noChangeArrowheads="1" noChangeShapeType="1" noTextEdit="1"/>
              </p:cNvSpPr>
              <p:nvPr>
                <p:ph idx="1"/>
              </p:nvPr>
            </p:nvSpPr>
            <p:spPr>
              <a:blipFill>
                <a:blip r:embed="rId3"/>
                <a:stretch>
                  <a:fillRect l="-328" b="-1626"/>
                </a:stretch>
              </a:blipFill>
            </p:spPr>
            <p:txBody>
              <a:bodyPr/>
              <a:lstStyle/>
              <a:p>
                <a:r>
                  <a:rPr lang="en-US">
                    <a:noFill/>
                  </a:rPr>
                  <a:t> </a:t>
                </a:r>
              </a:p>
            </p:txBody>
          </p:sp>
        </mc:Fallback>
      </mc:AlternateContent>
    </p:spTree>
    <p:extLst>
      <p:ext uri="{BB962C8B-B14F-4D97-AF65-F5344CB8AC3E}">
        <p14:creationId xmlns:p14="http://schemas.microsoft.com/office/powerpoint/2010/main" val="40302201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A7390C-A517-239B-9158-CF9B7046CAA2}"/>
              </a:ext>
            </a:extLst>
          </p:cNvPr>
          <p:cNvSpPr>
            <a:spLocks noGrp="1"/>
          </p:cNvSpPr>
          <p:nvPr>
            <p:ph type="title"/>
          </p:nvPr>
        </p:nvSpPr>
        <p:spPr/>
        <p:txBody>
          <a:bodyPr/>
          <a:lstStyle/>
          <a:p>
            <a:r>
              <a:rPr lang="en-US" dirty="0"/>
              <a:t>PPO ( Proximal Policy Optimization )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58B3700-AB3D-916F-BCFE-CE841BD8C4FC}"/>
                  </a:ext>
                </a:extLst>
              </p:cNvPr>
              <p:cNvSpPr>
                <a:spLocks noGrp="1"/>
              </p:cNvSpPr>
              <p:nvPr>
                <p:ph idx="1"/>
              </p:nvPr>
            </p:nvSpPr>
            <p:spPr/>
            <p:txBody>
              <a:bodyPr/>
              <a:lstStyle/>
              <a:p>
                <a:r>
                  <a:rPr lang="en-US" dirty="0"/>
                  <a:t>Case 1 &amp; 2,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𝑟</m:t>
                        </m:r>
                      </m:e>
                      <m:sub>
                        <m:r>
                          <a:rPr lang="en-US" b="0" i="1" smtClean="0">
                            <a:latin typeface="Cambria Math" panose="02040503050406030204" pitchFamily="18" charset="0"/>
                          </a:rPr>
                          <m:t>𝑡</m:t>
                        </m:r>
                      </m:sub>
                    </m:sSub>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r>
                      <a:rPr lang="en-US" b="0" i="1" smtClean="0">
                        <a:latin typeface="Cambria Math" panose="02040503050406030204" pitchFamily="18" charset="0"/>
                        <a:ea typeface="Cambria Math" panose="02040503050406030204" pitchFamily="18" charset="0"/>
                      </a:rPr>
                      <m:t>)</m:t>
                    </m:r>
                  </m:oMath>
                </a14:m>
                <a:r>
                  <a:rPr lang="en-US" dirty="0"/>
                  <a:t> is within the clipped objective </a:t>
                </a:r>
              </a:p>
              <a:p>
                <a:pPr lvl="1"/>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oMath>
                </a14:m>
                <a:r>
                  <a:rPr lang="en-US" dirty="0"/>
                  <a:t> is returned no matter</a:t>
                </a:r>
              </a:p>
              <a:p>
                <a:r>
                  <a:rPr lang="en-US" dirty="0"/>
                  <a:t>Case 3 &amp; 4,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𝜃</m:t>
                        </m:r>
                      </m:e>
                    </m:d>
                  </m:oMath>
                </a14:m>
                <a:r>
                  <a:rPr lang="en-US" dirty="0"/>
                  <a:t> is lower than the clipped objective</a:t>
                </a:r>
              </a:p>
              <a:p>
                <a:pPr lvl="1"/>
                <a:r>
                  <a:rPr lang="en-US" dirty="0"/>
                  <a:t> 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r>
                  <a:rPr lang="en-US" dirty="0"/>
                  <a:t> is positive,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d>
                      <m:dPr>
                        <m:ctrlPr>
                          <a:rPr lang="en-US" i="1">
                            <a:latin typeface="Cambria Math" panose="02040503050406030204" pitchFamily="18" charset="0"/>
                          </a:rPr>
                        </m:ctrlPr>
                      </m:dPr>
                      <m:e>
                        <m:r>
                          <a:rPr lang="en-US" i="1">
                            <a:latin typeface="Cambria Math" panose="02040503050406030204" pitchFamily="18" charset="0"/>
                            <a:ea typeface="Cambria Math" panose="02040503050406030204" pitchFamily="18" charset="0"/>
                          </a:rPr>
                          <m:t>𝜃</m:t>
                        </m:r>
                      </m:e>
                    </m:d>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oMath>
                </a14:m>
                <a:r>
                  <a:rPr lang="en-US" dirty="0"/>
                  <a:t> is still returned </a:t>
                </a:r>
              </a:p>
              <a:p>
                <a:pPr lvl="1"/>
                <a:r>
                  <a:rPr lang="en-US" dirty="0"/>
                  <a:t>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r>
                  <a:rPr lang="en-US" dirty="0"/>
                  <a:t> is negative, the clipped objective is returned </a:t>
                </a:r>
              </a:p>
              <a:p>
                <a:r>
                  <a:rPr lang="en-US" dirty="0"/>
                  <a:t>Case 5 &amp; 6,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oMath>
                </a14:m>
                <a:r>
                  <a:rPr lang="en-US" dirty="0"/>
                  <a:t> is greater than the clipped objective </a:t>
                </a:r>
              </a:p>
              <a:p>
                <a:pPr lvl="1"/>
                <a:r>
                  <a:rPr lang="en-US" dirty="0"/>
                  <a:t>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r>
                  <a:rPr lang="en-US" dirty="0"/>
                  <a:t> is positive, the clipped objective is returned</a:t>
                </a:r>
              </a:p>
              <a:p>
                <a:pPr lvl="1"/>
                <a:r>
                  <a:rPr lang="en-US" dirty="0"/>
                  <a:t>If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𝐴</m:t>
                        </m:r>
                      </m:e>
                      <m:sub>
                        <m:r>
                          <a:rPr lang="en-US" b="0" i="1" smtClean="0">
                            <a:latin typeface="Cambria Math" panose="02040503050406030204" pitchFamily="18" charset="0"/>
                          </a:rPr>
                          <m:t>𝑡</m:t>
                        </m:r>
                      </m:sub>
                    </m:sSub>
                  </m:oMath>
                </a14:m>
                <a:r>
                  <a:rPr lang="en-US" dirty="0"/>
                  <a:t> is negative,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𝑟</m:t>
                        </m:r>
                      </m:e>
                      <m:sub>
                        <m:r>
                          <a:rPr lang="en-US" i="1">
                            <a:latin typeface="Cambria Math" panose="02040503050406030204" pitchFamily="18" charset="0"/>
                          </a:rPr>
                          <m:t>𝑡</m:t>
                        </m:r>
                      </m:sub>
                    </m:sSub>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𝜃</m:t>
                    </m:r>
                    <m:r>
                      <a:rPr lang="en-US" i="1">
                        <a:latin typeface="Cambria Math" panose="02040503050406030204" pitchFamily="18" charset="0"/>
                        <a:ea typeface="Cambria Math" panose="02040503050406030204" pitchFamily="18" charset="0"/>
                      </a:rPr>
                      <m:t>)</m:t>
                    </m:r>
                    <m:sSub>
                      <m:sSubPr>
                        <m:ctrlPr>
                          <a:rPr lang="en-US"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𝐴</m:t>
                        </m:r>
                      </m:e>
                      <m:sub>
                        <m:r>
                          <a:rPr lang="en-US" b="0" i="1" smtClean="0">
                            <a:latin typeface="Cambria Math" panose="02040503050406030204" pitchFamily="18" charset="0"/>
                            <a:ea typeface="Cambria Math" panose="02040503050406030204" pitchFamily="18" charset="0"/>
                          </a:rPr>
                          <m:t>𝑡</m:t>
                        </m:r>
                      </m:sub>
                    </m:sSub>
                  </m:oMath>
                </a14:m>
                <a:r>
                  <a:rPr lang="en-US" dirty="0"/>
                  <a:t> is still returned </a:t>
                </a:r>
              </a:p>
              <a:p>
                <a:endParaRPr lang="en-US" dirty="0"/>
              </a:p>
            </p:txBody>
          </p:sp>
        </mc:Choice>
        <mc:Fallback xmlns="">
          <p:sp>
            <p:nvSpPr>
              <p:cNvPr id="3" name="Content Placeholder 2">
                <a:extLst>
                  <a:ext uri="{FF2B5EF4-FFF2-40B4-BE49-F238E27FC236}">
                    <a16:creationId xmlns:a16="http://schemas.microsoft.com/office/drawing/2014/main" id="{658B3700-AB3D-916F-BCFE-CE841BD8C4FC}"/>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40151891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0A53B-3E70-C7B6-7508-7FB94D3B87B4}"/>
              </a:ext>
            </a:extLst>
          </p:cNvPr>
          <p:cNvSpPr>
            <a:spLocks noGrp="1"/>
          </p:cNvSpPr>
          <p:nvPr>
            <p:ph type="title"/>
          </p:nvPr>
        </p:nvSpPr>
        <p:spPr/>
        <p:txBody>
          <a:bodyPr/>
          <a:lstStyle/>
          <a:p>
            <a:r>
              <a:rPr lang="en-US" dirty="0"/>
              <a:t>Continuous Action Spaces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2917E7-4E1F-4BC1-4094-BE7CCBB56622}"/>
                  </a:ext>
                </a:extLst>
              </p:cNvPr>
              <p:cNvSpPr>
                <a:spLocks noGrp="1"/>
              </p:cNvSpPr>
              <p:nvPr>
                <p:ph idx="1"/>
              </p:nvPr>
            </p:nvSpPr>
            <p:spPr/>
            <p:txBody>
              <a:bodyPr/>
              <a:lstStyle/>
              <a:p>
                <a:r>
                  <a:rPr lang="en-US" dirty="0"/>
                  <a:t>Usually, several actions that we can take at once with continuous values </a:t>
                </a:r>
              </a:p>
              <a:p>
                <a:r>
                  <a:rPr lang="en-US" dirty="0"/>
                  <a:t>Networks instead of returning probabilities or values associated with actions return parameters of distributions</a:t>
                </a:r>
              </a:p>
              <a:p>
                <a:r>
                  <a:rPr lang="en-US" dirty="0"/>
                  <a:t>Supports stochastic policies </a:t>
                </a:r>
              </a:p>
              <a:p>
                <a:r>
                  <a:rPr lang="en-US" dirty="0"/>
                  <a:t>Use Gaussian distribution </a:t>
                </a:r>
              </a:p>
              <a:p>
                <a14:m>
                  <m:oMath xmlns:m="http://schemas.openxmlformats.org/officeDocument/2006/math">
                    <m:r>
                      <m:rPr>
                        <m:sty m:val="p"/>
                      </m:rPr>
                      <a:rPr lang="en-US" b="0" i="0" smtClean="0">
                        <a:latin typeface="Cambria Math" panose="02040503050406030204" pitchFamily="18" charset="0"/>
                      </a:rPr>
                      <m:t>log</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𝜋</m:t>
                        </m:r>
                      </m:e>
                      <m:sub>
                        <m:r>
                          <a:rPr lang="en-US" b="0" i="1" smtClean="0">
                            <a:latin typeface="Cambria Math" panose="02040503050406030204" pitchFamily="18" charset="0"/>
                            <a:ea typeface="Cambria Math" panose="02040503050406030204" pitchFamily="18" charset="0"/>
                          </a:rPr>
                          <m:t>𝜃</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𝑎</m:t>
                        </m:r>
                      </m:e>
                      <m:e>
                        <m:r>
                          <a:rPr lang="en-US" b="0" i="1" smtClean="0">
                            <a:latin typeface="Cambria Math" panose="02040503050406030204" pitchFamily="18" charset="0"/>
                          </a:rPr>
                          <m:t>𝑠</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m:t>
                        </m:r>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𝜇</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2</m:t>
                            </m:r>
                          </m:sup>
                        </m:sSup>
                      </m:num>
                      <m:den>
                        <m:r>
                          <a:rPr lang="en-US" b="0" i="1" smtClean="0">
                            <a:latin typeface="Cambria Math" panose="02040503050406030204" pitchFamily="18" charset="0"/>
                          </a:rPr>
                          <m:t>2</m:t>
                        </m:r>
                        <m:sSup>
                          <m:sSupPr>
                            <m:ctrlPr>
                              <a:rPr lang="en-US" b="0" i="1" smtClean="0">
                                <a:latin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rPr>
                              <m:t>2</m:t>
                            </m:r>
                          </m:sup>
                        </m:sSup>
                      </m:den>
                    </m:f>
                    <m:r>
                      <a:rPr lang="en-US" b="0" i="1" smtClean="0">
                        <a:latin typeface="Cambria Math" panose="02040503050406030204" pitchFamily="18" charset="0"/>
                      </a:rPr>
                      <m:t> −</m:t>
                    </m:r>
                    <m:r>
                      <m:rPr>
                        <m:sty m:val="p"/>
                      </m:rPr>
                      <a:rPr lang="en-US" b="0" i="0" smtClean="0">
                        <a:latin typeface="Cambria Math" panose="02040503050406030204" pitchFamily="18" charset="0"/>
                      </a:rPr>
                      <m:t>log</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0" i="1" smtClean="0">
                            <a:latin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𝜋</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e>
                    </m:rad>
                    <m:r>
                      <a:rPr lang="en-US" b="0" i="1" smtClean="0">
                        <a:latin typeface="Cambria Math" panose="02040503050406030204" pitchFamily="18" charset="0"/>
                      </a:rPr>
                      <m:t>)</m:t>
                    </m:r>
                  </m:oMath>
                </a14:m>
                <a:endParaRPr lang="en-US" dirty="0"/>
              </a:p>
              <a:p>
                <a:endParaRPr lang="en-US" dirty="0"/>
              </a:p>
            </p:txBody>
          </p:sp>
        </mc:Choice>
        <mc:Fallback xmlns="">
          <p:sp>
            <p:nvSpPr>
              <p:cNvPr id="3" name="Content Placeholder 2">
                <a:extLst>
                  <a:ext uri="{FF2B5EF4-FFF2-40B4-BE49-F238E27FC236}">
                    <a16:creationId xmlns:a16="http://schemas.microsoft.com/office/drawing/2014/main" id="{182917E7-4E1F-4BC1-4094-BE7CCBB56622}"/>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41364174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876A0-A586-4A21-ED84-25C3807FD6A9}"/>
              </a:ext>
            </a:extLst>
          </p:cNvPr>
          <p:cNvSpPr>
            <a:spLocks noGrp="1"/>
          </p:cNvSpPr>
          <p:nvPr>
            <p:ph type="title"/>
          </p:nvPr>
        </p:nvSpPr>
        <p:spPr/>
        <p:txBody>
          <a:bodyPr/>
          <a:lstStyle/>
          <a:p>
            <a:r>
              <a:rPr lang="en-US" dirty="0"/>
              <a:t>Continuous Action Space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84792E4-9BCD-4811-FA98-7FE74CC4820C}"/>
                  </a:ext>
                </a:extLst>
              </p:cNvPr>
              <p:cNvSpPr>
                <a:spLocks noGrp="1"/>
              </p:cNvSpPr>
              <p:nvPr>
                <p:ph idx="1"/>
              </p:nvPr>
            </p:nvSpPr>
            <p:spPr/>
            <p:txBody>
              <a:bodyPr/>
              <a:lstStyle/>
              <a:p>
                <a:r>
                  <a:rPr lang="en-US" dirty="0"/>
                  <a:t>Works well with actor-critic</a:t>
                </a:r>
              </a:p>
              <a:p>
                <a:r>
                  <a:rPr lang="en-US" dirty="0"/>
                  <a:t>If we use </a:t>
                </a:r>
                <a14:m>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𝑉</m:t>
                        </m:r>
                      </m:e>
                      <m:sub>
                        <m:r>
                          <a:rPr lang="en-US" i="1" smtClean="0">
                            <a:latin typeface="Cambria Math" panose="02040503050406030204" pitchFamily="18" charset="0"/>
                            <a:ea typeface="Cambria Math" panose="02040503050406030204" pitchFamily="18" charset="0"/>
                          </a:rPr>
                          <m:t>𝜃</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instead of Q(s,a) the critic network doesn’t need to change </a:t>
                </a:r>
              </a:p>
              <a:p>
                <a:r>
                  <a:rPr lang="en-US" dirty="0"/>
                  <a:t>Our actor now outputs N-dimensional vectors for N actions, corresponding to mean and variance</a:t>
                </a:r>
              </a:p>
              <a:p>
                <a:r>
                  <a:rPr lang="en-US" dirty="0"/>
                  <a:t>Could adapt for other types of probability distributions</a:t>
                </a:r>
              </a:p>
              <a:p>
                <a:r>
                  <a:rPr lang="en-US" dirty="0"/>
                  <a:t>This makes this a on-policy method </a:t>
                </a:r>
              </a:p>
            </p:txBody>
          </p:sp>
        </mc:Choice>
        <mc:Fallback xmlns="">
          <p:sp>
            <p:nvSpPr>
              <p:cNvPr id="3" name="Content Placeholder 2">
                <a:extLst>
                  <a:ext uri="{FF2B5EF4-FFF2-40B4-BE49-F238E27FC236}">
                    <a16:creationId xmlns:a16="http://schemas.microsoft.com/office/drawing/2014/main" id="{B84792E4-9BCD-4811-FA98-7FE74CC4820C}"/>
                  </a:ext>
                </a:extLst>
              </p:cNvPr>
              <p:cNvSpPr>
                <a:spLocks noGrp="1" noRot="1" noChangeAspect="1" noMove="1" noResize="1" noEditPoints="1" noAdjustHandles="1" noChangeArrowheads="1" noChangeShapeType="1" noTextEdit="1"/>
              </p:cNvSpPr>
              <p:nvPr>
                <p:ph idx="1"/>
              </p:nvPr>
            </p:nvSpPr>
            <p:spPr>
              <a:blipFill>
                <a:blip r:embed="rId2"/>
                <a:stretch>
                  <a:fillRect l="-1086" t="-2326" r="-965"/>
                </a:stretch>
              </a:blipFill>
            </p:spPr>
            <p:txBody>
              <a:bodyPr/>
              <a:lstStyle/>
              <a:p>
                <a:r>
                  <a:rPr lang="en-US">
                    <a:noFill/>
                  </a:rPr>
                  <a:t> </a:t>
                </a:r>
              </a:p>
            </p:txBody>
          </p:sp>
        </mc:Fallback>
      </mc:AlternateContent>
    </p:spTree>
    <p:extLst>
      <p:ext uri="{BB962C8B-B14F-4D97-AF65-F5344CB8AC3E}">
        <p14:creationId xmlns:p14="http://schemas.microsoft.com/office/powerpoint/2010/main" val="655832655"/>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2530</TotalTime>
  <Words>2399</Words>
  <Application>Microsoft Macintosh PowerPoint</Application>
  <PresentationFormat>Widescreen</PresentationFormat>
  <Paragraphs>250</Paragraphs>
  <Slides>38</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Aptos</vt:lpstr>
      <vt:lpstr>Arial</vt:lpstr>
      <vt:lpstr>Cambria Math</vt:lpstr>
      <vt:lpstr>Gill Sans MT</vt:lpstr>
      <vt:lpstr>Times New Roman</vt:lpstr>
      <vt:lpstr>Parcel</vt:lpstr>
      <vt:lpstr>Reinforcement Learning</vt:lpstr>
      <vt:lpstr>What is Reinforcement Learning</vt:lpstr>
      <vt:lpstr>What is Reinforcement Learning? </vt:lpstr>
      <vt:lpstr>Components of Reinforcement Learning</vt:lpstr>
      <vt:lpstr>Markov Decision Process (MDP)</vt:lpstr>
      <vt:lpstr>Policy</vt:lpstr>
      <vt:lpstr>Bellman Equation</vt:lpstr>
      <vt:lpstr>Value Iteration</vt:lpstr>
      <vt:lpstr>Policy Iteration</vt:lpstr>
      <vt:lpstr>Policy Iteration</vt:lpstr>
      <vt:lpstr>Reinforcement Learning (RL)</vt:lpstr>
      <vt:lpstr>Model Based </vt:lpstr>
      <vt:lpstr>R-Max</vt:lpstr>
      <vt:lpstr>R-Max </vt:lpstr>
      <vt:lpstr>Model Free Methods</vt:lpstr>
      <vt:lpstr>Temporal difference learning</vt:lpstr>
      <vt:lpstr>Q-Learning</vt:lpstr>
      <vt:lpstr>Q-Learning</vt:lpstr>
      <vt:lpstr>Q-Learnings Problem</vt:lpstr>
      <vt:lpstr>SARSA</vt:lpstr>
      <vt:lpstr>Deep Q</vt:lpstr>
      <vt:lpstr>Deep-Q Architecture 1</vt:lpstr>
      <vt:lpstr>Deep-Q Architecture 2</vt:lpstr>
      <vt:lpstr>Deep-Q</vt:lpstr>
      <vt:lpstr>Deep-Q</vt:lpstr>
      <vt:lpstr>Deep-Q</vt:lpstr>
      <vt:lpstr>Policy Search</vt:lpstr>
      <vt:lpstr>Policy Search</vt:lpstr>
      <vt:lpstr>Policy Search</vt:lpstr>
      <vt:lpstr>Policy Gradients</vt:lpstr>
      <vt:lpstr>Policy Gradients</vt:lpstr>
      <vt:lpstr>Actor Critic </vt:lpstr>
      <vt:lpstr>PowerPoint Presentation</vt:lpstr>
      <vt:lpstr>A3C ( Asynchronous Advantage Actor Critic )</vt:lpstr>
      <vt:lpstr>PPO ( Proximal Policy Optimization )</vt:lpstr>
      <vt:lpstr>PPO ( Proximal Policy Optimization ) </vt:lpstr>
      <vt:lpstr>Continuous Action Spaces</vt:lpstr>
      <vt:lpstr>Continuous Action Space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Garrett McNeill</dc:creator>
  <cp:lastModifiedBy>Garrett McNeill</cp:lastModifiedBy>
  <cp:revision>6</cp:revision>
  <dcterms:created xsi:type="dcterms:W3CDTF">2026-06-01T00:53:37Z</dcterms:created>
  <dcterms:modified xsi:type="dcterms:W3CDTF">2026-06-10T16:07:03Z</dcterms:modified>
</cp:coreProperties>
</file>